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419" r:id="rId3"/>
    <p:sldId id="270" r:id="rId4"/>
    <p:sldId id="421" r:id="rId5"/>
    <p:sldId id="271" r:id="rId6"/>
    <p:sldId id="280" r:id="rId7"/>
    <p:sldId id="29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1" r:id="rId17"/>
    <p:sldId id="282" r:id="rId18"/>
    <p:sldId id="418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4"/>
    <p:restoredTop sz="94675"/>
  </p:normalViewPr>
  <p:slideViewPr>
    <p:cSldViewPr snapToGrid="0">
      <p:cViewPr varScale="1">
        <p:scale>
          <a:sx n="114" d="100"/>
          <a:sy n="114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49FE68-3862-4CBB-9449-A1500D24A50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1B95F-1F93-4547-ADDB-B03830DB2FC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400" dirty="0"/>
            <a:t>A lógica de programação é a base para o desenvolvimento de qualquer software. Ela envolve a construção de sequências lógicas de instruções para solucionar problemas de forma estruturada e eficiente.</a:t>
          </a:r>
          <a:br>
            <a:rPr lang="pt-BR" sz="1400" dirty="0"/>
          </a:br>
          <a:endParaRPr lang="en-US" sz="1400" dirty="0"/>
        </a:p>
      </dgm:t>
    </dgm:pt>
    <dgm:pt modelId="{145C90EC-9631-4466-8632-EA25B1B7C15B}" type="parTrans" cxnId="{8A563359-5341-4E9F-B962-ED33C96CFDC3}">
      <dgm:prSet/>
      <dgm:spPr/>
      <dgm:t>
        <a:bodyPr/>
        <a:lstStyle/>
        <a:p>
          <a:endParaRPr lang="en-US"/>
        </a:p>
      </dgm:t>
    </dgm:pt>
    <dgm:pt modelId="{D419CBEF-CDB8-4A53-A9A9-0FF112DCBCEC}" type="sibTrans" cxnId="{8A563359-5341-4E9F-B962-ED33C96CFDC3}">
      <dgm:prSet/>
      <dgm:spPr/>
      <dgm:t>
        <a:bodyPr/>
        <a:lstStyle/>
        <a:p>
          <a:endParaRPr lang="en-US"/>
        </a:p>
      </dgm:t>
    </dgm:pt>
    <dgm:pt modelId="{D4588AC1-3565-4D01-B9B2-E627C433617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Compreender a lógica de programação é essencial para desenvolver raciocínio computacional e criar soluções inovadoras no mundo da tecnologia.</a:t>
          </a:r>
          <a:endParaRPr lang="en-US" dirty="0"/>
        </a:p>
      </dgm:t>
    </dgm:pt>
    <dgm:pt modelId="{48C60C2D-0AEB-4CAF-89F1-CFDEC0B1861D}" type="parTrans" cxnId="{BF7CCD88-C8E0-41A1-9C67-89A46873EC7E}">
      <dgm:prSet/>
      <dgm:spPr/>
      <dgm:t>
        <a:bodyPr/>
        <a:lstStyle/>
        <a:p>
          <a:endParaRPr lang="en-US"/>
        </a:p>
      </dgm:t>
    </dgm:pt>
    <dgm:pt modelId="{34D4D102-273E-4427-BB3A-0FAFA1FAA019}" type="sibTrans" cxnId="{BF7CCD88-C8E0-41A1-9C67-89A46873EC7E}">
      <dgm:prSet/>
      <dgm:spPr/>
      <dgm:t>
        <a:bodyPr/>
        <a:lstStyle/>
        <a:p>
          <a:endParaRPr lang="en-US"/>
        </a:p>
      </dgm:t>
    </dgm:pt>
    <dgm:pt modelId="{0CD420E7-ABD7-4695-9012-EC97BBE01352}" type="pres">
      <dgm:prSet presAssocID="{A549FE68-3862-4CBB-9449-A1500D24A503}" presName="root" presStyleCnt="0">
        <dgm:presLayoutVars>
          <dgm:dir/>
          <dgm:resizeHandles val="exact"/>
        </dgm:presLayoutVars>
      </dgm:prSet>
      <dgm:spPr/>
    </dgm:pt>
    <dgm:pt modelId="{A9662E27-09B5-4A75-B816-F7FB3A7226EF}" type="pres">
      <dgm:prSet presAssocID="{6251B95F-1F93-4547-ADDB-B03830DB2FC2}" presName="compNode" presStyleCnt="0"/>
      <dgm:spPr/>
    </dgm:pt>
    <dgm:pt modelId="{1A04FE00-8807-4C66-9D37-194978D77F65}" type="pres">
      <dgm:prSet presAssocID="{6251B95F-1F93-4547-ADDB-B03830DB2F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7107CB61-1245-4071-B795-0839F2E419F1}" type="pres">
      <dgm:prSet presAssocID="{6251B95F-1F93-4547-ADDB-B03830DB2FC2}" presName="spaceRect" presStyleCnt="0"/>
      <dgm:spPr/>
    </dgm:pt>
    <dgm:pt modelId="{9B86108C-2076-4911-A138-B2B718B2407F}" type="pres">
      <dgm:prSet presAssocID="{6251B95F-1F93-4547-ADDB-B03830DB2FC2}" presName="textRect" presStyleLbl="revTx" presStyleIdx="0" presStyleCnt="2" custScaleX="118429">
        <dgm:presLayoutVars>
          <dgm:chMax val="1"/>
          <dgm:chPref val="1"/>
        </dgm:presLayoutVars>
      </dgm:prSet>
      <dgm:spPr/>
    </dgm:pt>
    <dgm:pt modelId="{2E9EC185-8983-491F-B969-1A63C591552F}" type="pres">
      <dgm:prSet presAssocID="{D419CBEF-CDB8-4A53-A9A9-0FF112DCBCEC}" presName="sibTrans" presStyleCnt="0"/>
      <dgm:spPr/>
    </dgm:pt>
    <dgm:pt modelId="{E3EAA9C9-65C0-42CB-AD1B-539AA610B129}" type="pres">
      <dgm:prSet presAssocID="{D4588AC1-3565-4D01-B9B2-E627C4336178}" presName="compNode" presStyleCnt="0"/>
      <dgm:spPr/>
    </dgm:pt>
    <dgm:pt modelId="{4E6DDB92-14A0-4966-8049-01CADFC53E6C}" type="pres">
      <dgm:prSet presAssocID="{D4588AC1-3565-4D01-B9B2-E627C433617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461EC09-2B2D-471E-9E00-F7FB2EF686F3}" type="pres">
      <dgm:prSet presAssocID="{D4588AC1-3565-4D01-B9B2-E627C4336178}" presName="spaceRect" presStyleCnt="0"/>
      <dgm:spPr/>
    </dgm:pt>
    <dgm:pt modelId="{3AE21DAE-EE18-4C81-B7C0-5D1A620B3B1F}" type="pres">
      <dgm:prSet presAssocID="{D4588AC1-3565-4D01-B9B2-E627C433617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1D93546-F9D8-4D86-872B-28BC7DA5ED60}" type="presOf" srcId="{6251B95F-1F93-4547-ADDB-B03830DB2FC2}" destId="{9B86108C-2076-4911-A138-B2B718B2407F}" srcOrd="0" destOrd="0" presId="urn:microsoft.com/office/officeart/2018/2/layout/IconLabelList"/>
    <dgm:cxn modelId="{8A563359-5341-4E9F-B962-ED33C96CFDC3}" srcId="{A549FE68-3862-4CBB-9449-A1500D24A503}" destId="{6251B95F-1F93-4547-ADDB-B03830DB2FC2}" srcOrd="0" destOrd="0" parTransId="{145C90EC-9631-4466-8632-EA25B1B7C15B}" sibTransId="{D419CBEF-CDB8-4A53-A9A9-0FF112DCBCEC}"/>
    <dgm:cxn modelId="{7D6FEB81-A73D-4A55-A544-F207B48DE186}" type="presOf" srcId="{A549FE68-3862-4CBB-9449-A1500D24A503}" destId="{0CD420E7-ABD7-4695-9012-EC97BBE01352}" srcOrd="0" destOrd="0" presId="urn:microsoft.com/office/officeart/2018/2/layout/IconLabelList"/>
    <dgm:cxn modelId="{BF7CCD88-C8E0-41A1-9C67-89A46873EC7E}" srcId="{A549FE68-3862-4CBB-9449-A1500D24A503}" destId="{D4588AC1-3565-4D01-B9B2-E627C4336178}" srcOrd="1" destOrd="0" parTransId="{48C60C2D-0AEB-4CAF-89F1-CFDEC0B1861D}" sibTransId="{34D4D102-273E-4427-BB3A-0FAFA1FAA019}"/>
    <dgm:cxn modelId="{4FC885B7-D82F-4012-B4BB-CB97AA74CC25}" type="presOf" srcId="{D4588AC1-3565-4D01-B9B2-E627C4336178}" destId="{3AE21DAE-EE18-4C81-B7C0-5D1A620B3B1F}" srcOrd="0" destOrd="0" presId="urn:microsoft.com/office/officeart/2018/2/layout/IconLabelList"/>
    <dgm:cxn modelId="{3966222F-75A4-4FBF-AA26-F24B2F42A1CE}" type="presParOf" srcId="{0CD420E7-ABD7-4695-9012-EC97BBE01352}" destId="{A9662E27-09B5-4A75-B816-F7FB3A7226EF}" srcOrd="0" destOrd="0" presId="urn:microsoft.com/office/officeart/2018/2/layout/IconLabelList"/>
    <dgm:cxn modelId="{2861B2B5-C503-4AE6-BE61-4A598F47922F}" type="presParOf" srcId="{A9662E27-09B5-4A75-B816-F7FB3A7226EF}" destId="{1A04FE00-8807-4C66-9D37-194978D77F65}" srcOrd="0" destOrd="0" presId="urn:microsoft.com/office/officeart/2018/2/layout/IconLabelList"/>
    <dgm:cxn modelId="{293C2A49-53B0-45D2-A7F5-613A86D03FA7}" type="presParOf" srcId="{A9662E27-09B5-4A75-B816-F7FB3A7226EF}" destId="{7107CB61-1245-4071-B795-0839F2E419F1}" srcOrd="1" destOrd="0" presId="urn:microsoft.com/office/officeart/2018/2/layout/IconLabelList"/>
    <dgm:cxn modelId="{EAAEE020-C0EF-4395-AABD-FC15DC2A4B4E}" type="presParOf" srcId="{A9662E27-09B5-4A75-B816-F7FB3A7226EF}" destId="{9B86108C-2076-4911-A138-B2B718B2407F}" srcOrd="2" destOrd="0" presId="urn:microsoft.com/office/officeart/2018/2/layout/IconLabelList"/>
    <dgm:cxn modelId="{C7116686-151A-4521-8417-DA35B8B2126B}" type="presParOf" srcId="{0CD420E7-ABD7-4695-9012-EC97BBE01352}" destId="{2E9EC185-8983-491F-B969-1A63C591552F}" srcOrd="1" destOrd="0" presId="urn:microsoft.com/office/officeart/2018/2/layout/IconLabelList"/>
    <dgm:cxn modelId="{A23A7E0C-4D8E-4795-9545-EA87696AFF3B}" type="presParOf" srcId="{0CD420E7-ABD7-4695-9012-EC97BBE01352}" destId="{E3EAA9C9-65C0-42CB-AD1B-539AA610B129}" srcOrd="2" destOrd="0" presId="urn:microsoft.com/office/officeart/2018/2/layout/IconLabelList"/>
    <dgm:cxn modelId="{01ABEBFE-0414-4A21-AE41-CBA9DA265C04}" type="presParOf" srcId="{E3EAA9C9-65C0-42CB-AD1B-539AA610B129}" destId="{4E6DDB92-14A0-4966-8049-01CADFC53E6C}" srcOrd="0" destOrd="0" presId="urn:microsoft.com/office/officeart/2018/2/layout/IconLabelList"/>
    <dgm:cxn modelId="{FDCB64CC-C6EC-4F3A-99FE-477F2CF1E20C}" type="presParOf" srcId="{E3EAA9C9-65C0-42CB-AD1B-539AA610B129}" destId="{E461EC09-2B2D-471E-9E00-F7FB2EF686F3}" srcOrd="1" destOrd="0" presId="urn:microsoft.com/office/officeart/2018/2/layout/IconLabelList"/>
    <dgm:cxn modelId="{61693652-CDEB-4610-8C3D-A218A841A088}" type="presParOf" srcId="{E3EAA9C9-65C0-42CB-AD1B-539AA610B129}" destId="{3AE21DAE-EE18-4C81-B7C0-5D1A620B3B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4FE00-8807-4C66-9D37-194978D77F65}">
      <dsp:nvSpPr>
        <dsp:cNvPr id="0" name=""/>
        <dsp:cNvSpPr/>
      </dsp:nvSpPr>
      <dsp:spPr>
        <a:xfrm>
          <a:off x="1135314" y="325991"/>
          <a:ext cx="1306125" cy="1306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6108C-2076-4911-A138-B2B718B2407F}">
      <dsp:nvSpPr>
        <dsp:cNvPr id="0" name=""/>
        <dsp:cNvSpPr/>
      </dsp:nvSpPr>
      <dsp:spPr>
        <a:xfrm>
          <a:off x="69676" y="2092973"/>
          <a:ext cx="3437401" cy="130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A lógica de programação é a base para o desenvolvimento de qualquer software. Ela envolve a construção de sequências lógicas de instruções para solucionar problemas de forma estruturada e eficiente.</a:t>
          </a:r>
          <a:br>
            <a:rPr lang="pt-BR" sz="1400" kern="1200" dirty="0"/>
          </a:br>
          <a:endParaRPr lang="en-US" sz="1400" kern="1200" dirty="0"/>
        </a:p>
      </dsp:txBody>
      <dsp:txXfrm>
        <a:off x="69676" y="2092973"/>
        <a:ext cx="3437401" cy="1305131"/>
      </dsp:txXfrm>
    </dsp:sp>
    <dsp:sp modelId="{4E6DDB92-14A0-4966-8049-01CADFC53E6C}">
      <dsp:nvSpPr>
        <dsp:cNvPr id="0" name=""/>
        <dsp:cNvSpPr/>
      </dsp:nvSpPr>
      <dsp:spPr>
        <a:xfrm>
          <a:off x="4813203" y="325991"/>
          <a:ext cx="1306125" cy="1306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E21DAE-EE18-4C81-B7C0-5D1A620B3B1F}">
      <dsp:nvSpPr>
        <dsp:cNvPr id="0" name=""/>
        <dsp:cNvSpPr/>
      </dsp:nvSpPr>
      <dsp:spPr>
        <a:xfrm>
          <a:off x="4015015" y="2092973"/>
          <a:ext cx="2902500" cy="130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Compreender a lógica de programação é essencial para desenvolver raciocínio computacional e criar soluções inovadoras no mundo da tecnologia.</a:t>
          </a:r>
          <a:endParaRPr lang="en-US" sz="1400" kern="1200" dirty="0"/>
        </a:p>
      </dsp:txBody>
      <dsp:txXfrm>
        <a:off x="4015015" y="2092973"/>
        <a:ext cx="2902500" cy="1305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EA131-8BA9-4686-712A-83ECA87CC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4DE938-4E15-9932-FF08-C6DE1EDE1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9ED5C-6AF3-0EB8-CB07-7B83DFA0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2F21C-F406-B6E1-0803-11C4DE6D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CB13DE-1865-B29A-EDE9-C040E611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54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FB192-6E4A-9A43-1AFC-D8D9166C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08D97-3F40-1AF7-9FF1-9C8DE4963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7EEFD6-A465-C14B-8368-D60B39B8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8020C0-8343-2AD5-7C77-38C80311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591B0B-4F35-2FC8-67E1-4E72EFB8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65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A836E-A546-0337-0B5E-3311D35B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ECD828-AEEF-2A8A-569F-4C88A3F13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339C80-ADE0-8A1E-2919-F837D88E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52547-6B63-533F-D607-BE23EEE7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5A6F5-8CC4-0F18-6C57-DDF75AC2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10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78A70-36F9-425A-7C9F-463AE962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49C4E7-D2B5-4AAC-6C5E-F63525545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3AFE49-4CE6-BDF0-DDE2-3A3A220AD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2B44DD-D4C4-31DC-6740-1DE9D877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8A922C-5856-37C7-B629-04611C23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4C05C4-52A3-C74C-C669-0C9CDD245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07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C013-C0B2-857F-21AA-66DAA3DB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1558FF-BB6E-04D2-3B33-0DBC3FBE8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31B5F4-7B0E-2438-2F65-685170E77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A0CA7C-872B-85E7-817C-4175863B5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80C084-7739-CD7D-E2D0-8B3DE01BC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B32E7C-7F80-72D4-1866-8CD2F668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E5D5D7-B332-6B67-8CA5-3A939337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2C8A43-6FBE-8041-FCB9-53ED9880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11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E816-B271-9ADA-6915-D5DD3A2F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753E92-696E-2673-9528-26ED14AC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DD5E95-4EDF-0D40-C5CC-6B317FF8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50ABA2-800F-0FB9-D9DA-2BF3D69C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2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97E938-2FE3-01C6-DFBE-43ED8E38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B6B26C-7055-7D88-C597-7F9A7BAB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EF5B35-E654-15A9-94C8-D5DD5248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38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B908E-CD64-4CAF-3D96-52088EBE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32FFB8-ADCD-99C2-93CE-9BFECA74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22113-3A59-6BB4-00DF-92900401E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DDED1F-6BCA-F09C-0048-789C4A66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5E9A9D-D965-86D3-AE20-32A21B76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2DA89E-2AF5-71C3-AED0-E1E72C24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32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D098D-6DE6-55F4-6012-6E33D7FC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CEDC16-6573-8CFA-6ADB-37BB0B716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CFC135-05BD-7B98-5DC4-199F51779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4C0D0F-2354-8930-B584-3DBD69B4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CC64E2-F85B-319C-ED76-76DE1D8A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E55D27-F5CE-344B-932B-D089A4E3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1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D7DD0-9B25-F12D-4F3A-23B1DBC6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30B270-71BF-ABBD-C164-3789A799A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A9D47-7EA8-A0E5-74DE-83143736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C85F66-9B85-BBDA-8D51-6F97717B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5340EF-DCBE-791E-8A67-7A3EBA1A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29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C19FFC-A58E-3848-CE8B-C6935C6F8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BCB7A3-B167-10AE-75A1-F1EEF5E7D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3C8E62-0547-5C93-B541-10212F9B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CFDBA-842B-9D48-B053-B7332E15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D9B27-1B2F-5DE2-B138-E1C16A61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8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898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77000"/>
                    </a14:imgEffect>
                    <a14:imgEffect>
                      <a14:brightnessContrast contrast="14000"/>
                    </a14:imgEffect>
                  </a14:imgLayer>
                </a14:imgProps>
              </a:ext>
            </a:extLst>
          </a:blip>
          <a:srcRect/>
          <a:stretch>
            <a:fillRect t="-35000" b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FEFC8FE-2CE3-6023-8398-F22FA124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E8897-8097-F495-FDCD-19551F87C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F5C82-E4EC-307E-71FC-345053709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5AE0CC-2228-EE3C-8C80-4159B97E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3CAE49-7BD8-5573-9F4D-B1043FEED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30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YseZnUlblO4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EQUwklpeAg?si=mM61jnCjxRuyWh0k" TargetMode="External"/><Relationship Id="rId2" Type="http://schemas.openxmlformats.org/officeDocument/2006/relationships/hyperlink" Target="https://youtu.be/fkUHF5ZmSqI?si=GCTa3LmlIV-dySi_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9844-B685-E4FE-DE59-8C4A7B52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DB563763-CF2A-0246-EAF9-7EF6BCCF3F5D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89CC0A-7AB3-F355-4A2E-A4B0B8C4F88E}"/>
              </a:ext>
            </a:extLst>
          </p:cNvPr>
          <p:cNvSpPr txBox="1"/>
          <p:nvPr/>
        </p:nvSpPr>
        <p:spPr>
          <a:xfrm>
            <a:off x="334538" y="960104"/>
            <a:ext cx="1130733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 err="1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Computational</a:t>
            </a:r>
            <a:r>
              <a:rPr lang="pt-BR" sz="50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 </a:t>
            </a:r>
            <a:r>
              <a:rPr lang="pt-BR" sz="5000" b="1" dirty="0" err="1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Thinking</a:t>
            </a:r>
            <a:r>
              <a:rPr lang="pt-BR" sz="50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 </a:t>
            </a:r>
            <a:r>
              <a:rPr lang="pt-BR" sz="5000" b="1" dirty="0" err="1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Using</a:t>
            </a:r>
            <a:r>
              <a:rPr lang="pt-BR" sz="50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 Python </a:t>
            </a:r>
          </a:p>
          <a:p>
            <a:pPr algn="ctr"/>
            <a:r>
              <a:rPr lang="pt-BR" sz="4000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Lógica de Programação</a:t>
            </a:r>
          </a:p>
          <a:p>
            <a:pPr algn="ctr"/>
            <a:r>
              <a:rPr lang="pt-BR" sz="2000" i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Aplicada em:</a:t>
            </a:r>
          </a:p>
          <a:p>
            <a:pPr algn="ctr"/>
            <a:r>
              <a:rPr lang="pt-BR" sz="12000" b="1" dirty="0">
                <a:solidFill>
                  <a:srgbClr val="FF004E"/>
                </a:solidFill>
                <a:latin typeface="Ink Free" panose="03080402000500000000" pitchFamily="66" charset="0"/>
                <a:cs typeface="Fairwater Script" panose="020F0502020204030204" pitchFamily="34" charset="0"/>
              </a:rPr>
              <a:t>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8525AB-F4F4-1BF0-C920-4D80C94B9C5E}"/>
              </a:ext>
            </a:extLst>
          </p:cNvPr>
          <p:cNvSpPr txBox="1"/>
          <p:nvPr/>
        </p:nvSpPr>
        <p:spPr>
          <a:xfrm>
            <a:off x="4891021" y="5429103"/>
            <a:ext cx="240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Prof. Edson de Oliveira</a:t>
            </a:r>
          </a:p>
        </p:txBody>
      </p:sp>
    </p:spTree>
    <p:extLst>
      <p:ext uri="{BB962C8B-B14F-4D97-AF65-F5344CB8AC3E}">
        <p14:creationId xmlns:p14="http://schemas.microsoft.com/office/powerpoint/2010/main" val="165731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BFC8-6652-992E-8EE5-E53A6DD6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5AB097C0-BAA1-4D55-61C8-56BBF87EC506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D9F679-6BD7-F331-8E01-F65291E294AE}"/>
              </a:ext>
            </a:extLst>
          </p:cNvPr>
          <p:cNvSpPr txBox="1"/>
          <p:nvPr/>
        </p:nvSpPr>
        <p:spPr>
          <a:xfrm>
            <a:off x="1822354" y="2738875"/>
            <a:ext cx="79175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Lógica de Programação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4D6195-C2DA-B388-62F6-B335C1C3A51C}"/>
              </a:ext>
            </a:extLst>
          </p:cNvPr>
          <p:cNvSpPr txBox="1"/>
          <p:nvPr/>
        </p:nvSpPr>
        <p:spPr>
          <a:xfrm>
            <a:off x="3046142" y="4142007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https://youtu.be/YseZnUlblO4</a:t>
            </a: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23E93E-8C25-33E4-420F-C69A126FF0FF}"/>
              </a:ext>
            </a:extLst>
          </p:cNvPr>
          <p:cNvSpPr txBox="1"/>
          <p:nvPr/>
        </p:nvSpPr>
        <p:spPr>
          <a:xfrm>
            <a:off x="3046142" y="3772675"/>
            <a:ext cx="172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 sugerido:</a:t>
            </a:r>
          </a:p>
        </p:txBody>
      </p:sp>
    </p:spTree>
    <p:extLst>
      <p:ext uri="{BB962C8B-B14F-4D97-AF65-F5344CB8AC3E}">
        <p14:creationId xmlns:p14="http://schemas.microsoft.com/office/powerpoint/2010/main" val="215450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1C66-2E42-25D8-6652-DB3D6B87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D4E9CDB7-749E-E4D2-7E1D-EDDEFA28C71C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3A226FDF-F37E-03F0-C4C4-B13278D6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36" y="54472"/>
            <a:ext cx="1270000" cy="4191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77C855-43FF-7674-66E4-7666A2D429AE}"/>
              </a:ext>
            </a:extLst>
          </p:cNvPr>
          <p:cNvSpPr txBox="1"/>
          <p:nvPr/>
        </p:nvSpPr>
        <p:spPr>
          <a:xfrm>
            <a:off x="0" y="0"/>
            <a:ext cx="4323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Introdução a Lógica de Programação</a:t>
            </a:r>
          </a:p>
        </p:txBody>
      </p:sp>
      <p:pic>
        <p:nvPicPr>
          <p:cNvPr id="6" name="Imagem 5" descr="Tela de celular com ícones coloridos&#10;&#10;O conteúdo gerado por IA pode estar incorreto.">
            <a:extLst>
              <a:ext uri="{FF2B5EF4-FFF2-40B4-BE49-F238E27FC236}">
                <a16:creationId xmlns:a16="http://schemas.microsoft.com/office/drawing/2014/main" id="{501A0022-06C7-DADC-5128-A654227DC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44" y="1408787"/>
            <a:ext cx="3960000" cy="3960000"/>
          </a:xfrm>
          <a:prstGeom prst="rect">
            <a:avLst/>
          </a:prstGeom>
        </p:spPr>
      </p:pic>
      <p:graphicFrame>
        <p:nvGraphicFramePr>
          <p:cNvPr id="99" name="CaixaDeTexto 1">
            <a:extLst>
              <a:ext uri="{FF2B5EF4-FFF2-40B4-BE49-F238E27FC236}">
                <a16:creationId xmlns:a16="http://schemas.microsoft.com/office/drawing/2014/main" id="{8FA6EE03-D52F-FC50-8503-15D37CC4DA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0479036"/>
              </p:ext>
            </p:extLst>
          </p:nvPr>
        </p:nvGraphicFramePr>
        <p:xfrm>
          <a:off x="397456" y="1785591"/>
          <a:ext cx="6987192" cy="3724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1881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BFC8-6652-992E-8EE5-E53A6DD6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5AB097C0-BAA1-4D55-61C8-56BBF87EC506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D9F679-6BD7-F331-8E01-F65291E294AE}"/>
              </a:ext>
            </a:extLst>
          </p:cNvPr>
          <p:cNvSpPr txBox="1"/>
          <p:nvPr/>
        </p:nvSpPr>
        <p:spPr>
          <a:xfrm>
            <a:off x="3865376" y="2738875"/>
            <a:ext cx="38314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Algoritmos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AFFE056-0DBE-49CC-3EE9-8288FCAE4064}"/>
              </a:ext>
            </a:extLst>
          </p:cNvPr>
          <p:cNvSpPr txBox="1"/>
          <p:nvPr/>
        </p:nvSpPr>
        <p:spPr>
          <a:xfrm>
            <a:off x="3865376" y="3754538"/>
            <a:ext cx="1949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Vídeos sugeridos: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138163-E4FE-EE7E-5D6C-8C35AEAE35B6}"/>
              </a:ext>
            </a:extLst>
          </p:cNvPr>
          <p:cNvSpPr txBox="1"/>
          <p:nvPr/>
        </p:nvSpPr>
        <p:spPr>
          <a:xfrm>
            <a:off x="3865376" y="4216203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https://youtu.be/fkUHF5ZmSqI?si=GCTa3LmlIV-dySi_</a:t>
            </a:r>
            <a:endParaRPr lang="pt-BR" dirty="0"/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7CAF5A-C8AB-AA20-1B74-84B3D76E1EA0}"/>
              </a:ext>
            </a:extLst>
          </p:cNvPr>
          <p:cNvSpPr txBox="1"/>
          <p:nvPr/>
        </p:nvSpPr>
        <p:spPr>
          <a:xfrm>
            <a:off x="3865376" y="4677868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https://youtu.be/LEQUwklpeAg?si=mM61jnCjxRuyWh0k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985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6757-1965-82A4-59A4-3A8EE74B3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AA33F295-7387-8710-38F5-4A7ADBAB4AA6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60B52702-2CDD-3872-5621-A8A2F9762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36" y="54472"/>
            <a:ext cx="1270000" cy="4191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8449F07-BFF4-547E-00CC-886210F77DC9}"/>
              </a:ext>
            </a:extLst>
          </p:cNvPr>
          <p:cNvSpPr txBox="1"/>
          <p:nvPr/>
        </p:nvSpPr>
        <p:spPr>
          <a:xfrm>
            <a:off x="0" y="0"/>
            <a:ext cx="2961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Introdução a Algoritmos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78D36D-AF17-3546-EBF4-085549E869CD}"/>
              </a:ext>
            </a:extLst>
          </p:cNvPr>
          <p:cNvSpPr txBox="1"/>
          <p:nvPr/>
        </p:nvSpPr>
        <p:spPr>
          <a:xfrm>
            <a:off x="457199" y="1624212"/>
            <a:ext cx="65339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Algoritmos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 são sequências lógicas e bem definidas de passos que utilizamos para resolver um problema ou realizar uma tarefa.</a:t>
            </a:r>
          </a:p>
          <a:p>
            <a:endParaRPr lang="pt-BR" sz="2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Eles são a base da programação e podem ser implementados em qualquer linguagem de programação.</a:t>
            </a:r>
          </a:p>
          <a:p>
            <a:endParaRPr lang="pt-BR" sz="2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Dominar a criação de 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Algoritmos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 é essencial para escrever códigos eficientes, automatizar processos e desenvolver soluções inovadoras na área de tecnologia.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41E29B-3EBF-831B-D542-E503C7FB2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67" y="1138316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1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B4C2-0315-0F16-0C5F-9A835187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9939C983-1A0E-5CB0-ED67-D7C90B995FFF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3C3C763-454E-937C-0B39-2D06C51E61DD}"/>
              </a:ext>
            </a:extLst>
          </p:cNvPr>
          <p:cNvSpPr txBox="1"/>
          <p:nvPr/>
        </p:nvSpPr>
        <p:spPr>
          <a:xfrm>
            <a:off x="0" y="0"/>
            <a:ext cx="3094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Exemplo de um Algoritmos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FB8231-5955-B1D3-E0EE-48F9EB25097E}"/>
              </a:ext>
            </a:extLst>
          </p:cNvPr>
          <p:cNvSpPr txBox="1"/>
          <p:nvPr/>
        </p:nvSpPr>
        <p:spPr>
          <a:xfrm>
            <a:off x="2701571" y="1275719"/>
            <a:ext cx="6533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ALGORITMO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 não é a resposta do problema, sim 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COMO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 chegamos no 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RESULTADO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4767A6-176D-777A-F65D-DB59CBFA1C51}"/>
              </a:ext>
            </a:extLst>
          </p:cNvPr>
          <p:cNvSpPr txBox="1"/>
          <p:nvPr/>
        </p:nvSpPr>
        <p:spPr>
          <a:xfrm>
            <a:off x="2451005" y="773971"/>
            <a:ext cx="7143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Para elaborarmos um </a:t>
            </a:r>
            <a:r>
              <a:rPr lang="pt-BR" sz="1800" b="1" dirty="0">
                <a:solidFill>
                  <a:schemeClr val="accent6">
                    <a:lumMod val="50000"/>
                  </a:schemeClr>
                </a:solidFill>
              </a:rPr>
              <a:t>ALGORITMO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 deve existir um </a:t>
            </a:r>
            <a:r>
              <a:rPr lang="pt-BR" sz="1800" b="1" dirty="0">
                <a:solidFill>
                  <a:schemeClr val="accent6">
                    <a:lumMod val="50000"/>
                  </a:schemeClr>
                </a:solidFill>
              </a:rPr>
              <a:t>PROBLEMA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B4C3115-616E-4E7E-724D-6D76B8394516}"/>
              </a:ext>
            </a:extLst>
          </p:cNvPr>
          <p:cNvGrpSpPr/>
          <p:nvPr/>
        </p:nvGrpSpPr>
        <p:grpSpPr>
          <a:xfrm>
            <a:off x="408432" y="3291837"/>
            <a:ext cx="11375136" cy="1555109"/>
            <a:chOff x="408432" y="3291837"/>
            <a:chExt cx="11375136" cy="1555109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7729538-FCA2-6D61-E119-EA483401DF04}"/>
                </a:ext>
              </a:extLst>
            </p:cNvPr>
            <p:cNvSpPr txBox="1"/>
            <p:nvPr/>
          </p:nvSpPr>
          <p:spPr>
            <a:xfrm>
              <a:off x="408432" y="3291839"/>
              <a:ext cx="11375136" cy="15551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pt-BR" dirty="0"/>
            </a:p>
          </p:txBody>
        </p:sp>
        <p:pic>
          <p:nvPicPr>
            <p:cNvPr id="1026" name="Picture 2" descr="pescador em um barco. uma simples imagem de desenho animado em um fundo  branco. 5903056 Vetor no Vecteezy">
              <a:extLst>
                <a:ext uri="{FF2B5EF4-FFF2-40B4-BE49-F238E27FC236}">
                  <a16:creationId xmlns:a16="http://schemas.microsoft.com/office/drawing/2014/main" id="{911B9C3D-82E1-25F5-87C1-47D8BBAFF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432" y="3291838"/>
              <a:ext cx="1555108" cy="15551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vara de pesca desenhada à mão dos desenhos animados. vara simples com  carretel, boia, anzol. acessório de pesca. passatempo, atividade de lazer.  ilustração vetorial plana. 8146607 Vetor no Vecteezy">
              <a:extLst>
                <a:ext uri="{FF2B5EF4-FFF2-40B4-BE49-F238E27FC236}">
                  <a16:creationId xmlns:a16="http://schemas.microsoft.com/office/drawing/2014/main" id="{A9DA8DB7-431B-FEB0-9772-28CEEAD6AB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477" y="3291837"/>
              <a:ext cx="1244088" cy="1555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anzol de pesca desenhando arte em preto e branco estilo vintage isolado no  fundo branco 1937560 Vetor no Vecteezy">
              <a:extLst>
                <a:ext uri="{FF2B5EF4-FFF2-40B4-BE49-F238E27FC236}">
                  <a16:creationId xmlns:a16="http://schemas.microsoft.com/office/drawing/2014/main" id="{DB1CB55B-39E1-6FFA-A1E6-1E0C24E6B3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7989" y="3510546"/>
              <a:ext cx="465760" cy="11471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Vetores de Minhoca Em Um Dos Anzol De Pesca e mais imagens de Minhoca -  Minhoca, Anzol de pesca, Revista em quadrinhos - Produção artística - iStock">
              <a:extLst>
                <a:ext uri="{FF2B5EF4-FFF2-40B4-BE49-F238E27FC236}">
                  <a16:creationId xmlns:a16="http://schemas.microsoft.com/office/drawing/2014/main" id="{E8FF841E-0B0E-9668-95AA-011F33DC1A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4467" y="3425539"/>
              <a:ext cx="785404" cy="12852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Desenho Isolado Do Vetor De Ilustração Do Símbolo De Tempo Rápido De  Rabisco Desenhado à Mão Ilustração do Vetor - Ilustração de segundo,  alarme: 217550248">
              <a:extLst>
                <a:ext uri="{FF2B5EF4-FFF2-40B4-BE49-F238E27FC236}">
                  <a16:creationId xmlns:a16="http://schemas.microsoft.com/office/drawing/2014/main" id="{E98B9DB6-3AB6-7CF4-7922-172047090F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5179" y="3323958"/>
              <a:ext cx="1403738" cy="1403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Peixe Anzol Imagens – Download Grátis no Freepik">
              <a:extLst>
                <a:ext uri="{FF2B5EF4-FFF2-40B4-BE49-F238E27FC236}">
                  <a16:creationId xmlns:a16="http://schemas.microsoft.com/office/drawing/2014/main" id="{A94AD2F4-F9BA-9032-73EC-FCCDAB9763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8461" y="3291837"/>
              <a:ext cx="1555107" cy="1555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Design PNG E SVG De Traço Do Símbolo Do Sinal De Igualdade Para Camisetas">
              <a:extLst>
                <a:ext uri="{FF2B5EF4-FFF2-40B4-BE49-F238E27FC236}">
                  <a16:creationId xmlns:a16="http://schemas.microsoft.com/office/drawing/2014/main" id="{5F8DD8FA-68AC-A086-D99F-A42507AD3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0459" y="3751876"/>
              <a:ext cx="693928" cy="693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Design PNG E SVG De Ícone De Doodle De Sinal De Adição Para Camisetas">
              <a:extLst>
                <a:ext uri="{FF2B5EF4-FFF2-40B4-BE49-F238E27FC236}">
                  <a16:creationId xmlns:a16="http://schemas.microsoft.com/office/drawing/2014/main" id="{9F61E833-8D9D-60F3-46C7-6F141D089E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9656" y="3857875"/>
              <a:ext cx="553998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Design PNG E SVG De Ícone De Doodle De Sinal De Adição Para Camisetas">
              <a:extLst>
                <a:ext uri="{FF2B5EF4-FFF2-40B4-BE49-F238E27FC236}">
                  <a16:creationId xmlns:a16="http://schemas.microsoft.com/office/drawing/2014/main" id="{7C28350B-35B5-3191-C576-656308C7B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9160" y="3891673"/>
              <a:ext cx="553998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0" descr="Design PNG E SVG De Ícone De Doodle De Sinal De Adição Para Camisetas">
              <a:extLst>
                <a:ext uri="{FF2B5EF4-FFF2-40B4-BE49-F238E27FC236}">
                  <a16:creationId xmlns:a16="http://schemas.microsoft.com/office/drawing/2014/main" id="{CAA32BBB-E73A-2089-B862-6766EDF1C9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1181" y="3914426"/>
              <a:ext cx="553998" cy="553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26" descr="Seta Direita Imagens – Download Grátis no Freepik">
              <a:extLst>
                <a:ext uri="{FF2B5EF4-FFF2-40B4-BE49-F238E27FC236}">
                  <a16:creationId xmlns:a16="http://schemas.microsoft.com/office/drawing/2014/main" id="{CBEE5F51-9B9E-B75A-A817-F4BFD0F2B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8390" y="3728239"/>
              <a:ext cx="813270" cy="813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9C4B5C-0643-487D-D2CD-815CE0E72418}"/>
              </a:ext>
            </a:extLst>
          </p:cNvPr>
          <p:cNvSpPr txBox="1"/>
          <p:nvPr/>
        </p:nvSpPr>
        <p:spPr>
          <a:xfrm>
            <a:off x="350034" y="5302405"/>
            <a:ext cx="1756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PROBLEMA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8965BF97-A2A8-4730-2836-4A2A223D8600}"/>
              </a:ext>
            </a:extLst>
          </p:cNvPr>
          <p:cNvCxnSpPr>
            <a:cxnSpLocks/>
          </p:cNvCxnSpPr>
          <p:nvPr/>
        </p:nvCxnSpPr>
        <p:spPr>
          <a:xfrm>
            <a:off x="2984076" y="4992882"/>
            <a:ext cx="0" cy="309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54992D0-6794-2B7B-4961-F7E41EDDED67}"/>
              </a:ext>
            </a:extLst>
          </p:cNvPr>
          <p:cNvCxnSpPr>
            <a:cxnSpLocks/>
          </p:cNvCxnSpPr>
          <p:nvPr/>
        </p:nvCxnSpPr>
        <p:spPr>
          <a:xfrm>
            <a:off x="9061788" y="5001597"/>
            <a:ext cx="0" cy="309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2997DA89-979D-F98F-BE35-5B2E705B157A}"/>
              </a:ext>
            </a:extLst>
          </p:cNvPr>
          <p:cNvCxnSpPr/>
          <p:nvPr/>
        </p:nvCxnSpPr>
        <p:spPr>
          <a:xfrm>
            <a:off x="2984076" y="5302405"/>
            <a:ext cx="60777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D5F4730-376D-EA65-7143-B5FFE535542B}"/>
              </a:ext>
            </a:extLst>
          </p:cNvPr>
          <p:cNvSpPr txBox="1"/>
          <p:nvPr/>
        </p:nvSpPr>
        <p:spPr>
          <a:xfrm>
            <a:off x="5228302" y="5871968"/>
            <a:ext cx="132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PASSOS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E53A2ED-C680-9249-2E23-DD5C0E42C0AA}"/>
              </a:ext>
            </a:extLst>
          </p:cNvPr>
          <p:cNvSpPr txBox="1"/>
          <p:nvPr/>
        </p:nvSpPr>
        <p:spPr>
          <a:xfrm>
            <a:off x="10031660" y="5292859"/>
            <a:ext cx="1870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RESULTADO</a:t>
            </a:r>
          </a:p>
        </p:txBody>
      </p:sp>
      <p:sp>
        <p:nvSpPr>
          <p:cNvPr id="22" name="Seta para a Direita 21">
            <a:extLst>
              <a:ext uri="{FF2B5EF4-FFF2-40B4-BE49-F238E27FC236}">
                <a16:creationId xmlns:a16="http://schemas.microsoft.com/office/drawing/2014/main" id="{4236811A-EBBD-3C27-1A7E-7D43C4D84149}"/>
              </a:ext>
            </a:extLst>
          </p:cNvPr>
          <p:cNvSpPr/>
          <p:nvPr/>
        </p:nvSpPr>
        <p:spPr>
          <a:xfrm rot="16200000">
            <a:off x="889638" y="5028621"/>
            <a:ext cx="411551" cy="1547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a Direita 22">
            <a:extLst>
              <a:ext uri="{FF2B5EF4-FFF2-40B4-BE49-F238E27FC236}">
                <a16:creationId xmlns:a16="http://schemas.microsoft.com/office/drawing/2014/main" id="{194596FD-FA0D-44E1-4CF7-12390D240FFC}"/>
              </a:ext>
            </a:extLst>
          </p:cNvPr>
          <p:cNvSpPr/>
          <p:nvPr/>
        </p:nvSpPr>
        <p:spPr>
          <a:xfrm rot="16200000">
            <a:off x="5685369" y="5556068"/>
            <a:ext cx="411551" cy="1547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 para a Direita 23">
            <a:extLst>
              <a:ext uri="{FF2B5EF4-FFF2-40B4-BE49-F238E27FC236}">
                <a16:creationId xmlns:a16="http://schemas.microsoft.com/office/drawing/2014/main" id="{B8BF8B26-8514-7ED8-FBFC-11D1C3DAFBAC}"/>
              </a:ext>
            </a:extLst>
          </p:cNvPr>
          <p:cNvSpPr/>
          <p:nvPr/>
        </p:nvSpPr>
        <p:spPr>
          <a:xfrm rot="16200000">
            <a:off x="10761013" y="5049145"/>
            <a:ext cx="411551" cy="1547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D1E135C-4732-880C-71D5-4CC7578E132E}"/>
              </a:ext>
            </a:extLst>
          </p:cNvPr>
          <p:cNvSpPr txBox="1"/>
          <p:nvPr/>
        </p:nvSpPr>
        <p:spPr>
          <a:xfrm>
            <a:off x="5228302" y="2314561"/>
            <a:ext cx="1896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ALGORITMO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67893651-1B0E-562B-43C5-99C192BE4DD9}"/>
              </a:ext>
            </a:extLst>
          </p:cNvPr>
          <p:cNvCxnSpPr/>
          <p:nvPr/>
        </p:nvCxnSpPr>
        <p:spPr>
          <a:xfrm>
            <a:off x="2998477" y="2787662"/>
            <a:ext cx="60777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059E4825-A19A-CAA3-EF68-52457FD6FDB6}"/>
              </a:ext>
            </a:extLst>
          </p:cNvPr>
          <p:cNvCxnSpPr>
            <a:cxnSpLocks/>
          </p:cNvCxnSpPr>
          <p:nvPr/>
        </p:nvCxnSpPr>
        <p:spPr>
          <a:xfrm>
            <a:off x="3000476" y="2778947"/>
            <a:ext cx="0" cy="309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3FB7ADA-8A36-FAD4-FB6A-40FC7F871062}"/>
              </a:ext>
            </a:extLst>
          </p:cNvPr>
          <p:cNvCxnSpPr>
            <a:cxnSpLocks/>
          </p:cNvCxnSpPr>
          <p:nvPr/>
        </p:nvCxnSpPr>
        <p:spPr>
          <a:xfrm>
            <a:off x="9078188" y="2787662"/>
            <a:ext cx="0" cy="309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70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89D9-76AB-AB22-7AAB-10F6AE02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C3649938-4FFD-E015-8308-C4A770BD4179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79CDA7-0689-AB1A-4D7E-2671B902F9AE}"/>
              </a:ext>
            </a:extLst>
          </p:cNvPr>
          <p:cNvSpPr txBox="1"/>
          <p:nvPr/>
        </p:nvSpPr>
        <p:spPr>
          <a:xfrm>
            <a:off x="0" y="0"/>
            <a:ext cx="3244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Narrativa de um Algoritmo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EC8508-C014-D2D6-5DA2-4BF931DB81AB}"/>
              </a:ext>
            </a:extLst>
          </p:cNvPr>
          <p:cNvSpPr txBox="1"/>
          <p:nvPr/>
        </p:nvSpPr>
        <p:spPr>
          <a:xfrm>
            <a:off x="1874803" y="1864410"/>
            <a:ext cx="8442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accent6">
                    <a:lumMod val="50000"/>
                  </a:schemeClr>
                </a:solidFill>
              </a:rPr>
              <a:t>PROBLEMA: </a:t>
            </a:r>
          </a:p>
          <a:p>
            <a:pPr algn="ctr"/>
            <a:r>
              <a:rPr lang="pt-BR" sz="2800" dirty="0"/>
              <a:t>Calcular a média de 3 números dados pelo usuário.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9F6885-644E-974D-BB65-03EDFC87E64C}"/>
              </a:ext>
            </a:extLst>
          </p:cNvPr>
          <p:cNvSpPr txBox="1"/>
          <p:nvPr/>
        </p:nvSpPr>
        <p:spPr>
          <a:xfrm>
            <a:off x="5071140" y="3382040"/>
            <a:ext cx="60995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accent6">
                    <a:lumMod val="50000"/>
                  </a:schemeClr>
                </a:solidFill>
              </a:rPr>
              <a:t>NARRATIVA: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Solicitar o </a:t>
            </a:r>
            <a:r>
              <a:rPr lang="pt-BR" sz="2800" b="1" dirty="0"/>
              <a:t>primeiro</a:t>
            </a:r>
            <a:r>
              <a:rPr lang="pt-BR" sz="2800" dirty="0"/>
              <a:t> numero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Solicitar o </a:t>
            </a:r>
            <a:r>
              <a:rPr lang="pt-BR" sz="2800" b="1" dirty="0"/>
              <a:t>segundo</a:t>
            </a:r>
            <a:r>
              <a:rPr lang="pt-BR" sz="2800" dirty="0"/>
              <a:t> numero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Solicitar o </a:t>
            </a:r>
            <a:r>
              <a:rPr lang="pt-BR" sz="2800" b="1" dirty="0"/>
              <a:t>terceiro</a:t>
            </a:r>
            <a:r>
              <a:rPr lang="pt-BR" sz="2800" dirty="0"/>
              <a:t> numero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Calcular a </a:t>
            </a:r>
            <a:r>
              <a:rPr lang="pt-BR" sz="2800" b="1" dirty="0"/>
              <a:t>média</a:t>
            </a:r>
            <a:r>
              <a:rPr lang="pt-BR" sz="2800" dirty="0"/>
              <a:t> dos 3 números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Exibir</a:t>
            </a:r>
            <a:r>
              <a:rPr lang="pt-BR" sz="2800" dirty="0"/>
              <a:t> a média</a:t>
            </a:r>
          </a:p>
        </p:txBody>
      </p:sp>
      <p:sp>
        <p:nvSpPr>
          <p:cNvPr id="9" name="Seta para Baixo 8">
            <a:extLst>
              <a:ext uri="{FF2B5EF4-FFF2-40B4-BE49-F238E27FC236}">
                <a16:creationId xmlns:a16="http://schemas.microsoft.com/office/drawing/2014/main" id="{E13C326B-9364-3929-BFC5-260731F5E321}"/>
              </a:ext>
            </a:extLst>
          </p:cNvPr>
          <p:cNvSpPr/>
          <p:nvPr/>
        </p:nvSpPr>
        <p:spPr>
          <a:xfrm>
            <a:off x="4429350" y="3941002"/>
            <a:ext cx="428568" cy="19013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  <a:p>
            <a:pPr algn="ctr"/>
            <a:r>
              <a:rPr lang="pt-BR" dirty="0"/>
              <a:t>O</a:t>
            </a:r>
          </a:p>
          <a:p>
            <a:pPr algn="ctr"/>
            <a:r>
              <a:rPr lang="pt-BR" dirty="0"/>
              <a:t>M</a:t>
            </a:r>
          </a:p>
          <a:p>
            <a:pPr algn="ctr"/>
            <a:r>
              <a:rPr lang="pt-BR" dirty="0"/>
              <a:t>O</a:t>
            </a:r>
          </a:p>
        </p:txBody>
      </p:sp>
      <p:sp>
        <p:nvSpPr>
          <p:cNvPr id="14" name="Explosão 1 13">
            <a:extLst>
              <a:ext uri="{FF2B5EF4-FFF2-40B4-BE49-F238E27FC236}">
                <a16:creationId xmlns:a16="http://schemas.microsoft.com/office/drawing/2014/main" id="{5B2DEF4B-1CFF-3198-52E0-E55A9FD7EF74}"/>
              </a:ext>
            </a:extLst>
          </p:cNvPr>
          <p:cNvSpPr/>
          <p:nvPr/>
        </p:nvSpPr>
        <p:spPr>
          <a:xfrm>
            <a:off x="1213800" y="3723289"/>
            <a:ext cx="2971539" cy="2119086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ALGORITMO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E8C97B-C9B4-FA4E-7E25-B47A165B235A}"/>
              </a:ext>
            </a:extLst>
          </p:cNvPr>
          <p:cNvSpPr txBox="1"/>
          <p:nvPr/>
        </p:nvSpPr>
        <p:spPr>
          <a:xfrm>
            <a:off x="2559800" y="635145"/>
            <a:ext cx="707239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solidFill>
                  <a:schemeClr val="accent6">
                    <a:lumMod val="50000"/>
                  </a:schemeClr>
                </a:solidFill>
              </a:rPr>
              <a:t>Narrativa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É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 a apresentação do algoritmos através de passos.</a:t>
            </a:r>
          </a:p>
          <a:p>
            <a:pPr algn="ctr"/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Ela auxilia o aprendiz a pensar sistematicamente.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004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4568D-B6FC-B140-81C4-6E048353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5CF6CAEA-84C6-7E95-309C-46CBF9066359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F9AB9E-3E45-7CCA-164F-EA56F8354FBE}"/>
              </a:ext>
            </a:extLst>
          </p:cNvPr>
          <p:cNvSpPr txBox="1"/>
          <p:nvPr/>
        </p:nvSpPr>
        <p:spPr>
          <a:xfrm>
            <a:off x="3216951" y="2738875"/>
            <a:ext cx="51283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Tipos de dados</a:t>
            </a:r>
          </a:p>
        </p:txBody>
      </p:sp>
    </p:spTree>
    <p:extLst>
      <p:ext uri="{BB962C8B-B14F-4D97-AF65-F5344CB8AC3E}">
        <p14:creationId xmlns:p14="http://schemas.microsoft.com/office/powerpoint/2010/main" val="382847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7FA2-B767-37EB-D2FC-F727ABD9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AFF29DFD-CFA5-100E-1031-E338E1447E4F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99190DC3-8491-6B6F-27F2-77A7E04BB6C8}"/>
              </a:ext>
            </a:extLst>
          </p:cNvPr>
          <p:cNvSpPr/>
          <p:nvPr/>
        </p:nvSpPr>
        <p:spPr>
          <a:xfrm>
            <a:off x="5524210" y="473572"/>
            <a:ext cx="1600200" cy="757451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TIPOS DE DADOS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873C6F26-D904-D521-57D7-2E9CC502AF05}"/>
              </a:ext>
            </a:extLst>
          </p:cNvPr>
          <p:cNvSpPr/>
          <p:nvPr/>
        </p:nvSpPr>
        <p:spPr>
          <a:xfrm>
            <a:off x="1939500" y="1917916"/>
            <a:ext cx="1600200" cy="49159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NUMÉRICOS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B5F24372-0E5F-772C-2144-62271EFEE420}"/>
              </a:ext>
            </a:extLst>
          </p:cNvPr>
          <p:cNvSpPr/>
          <p:nvPr/>
        </p:nvSpPr>
        <p:spPr>
          <a:xfrm>
            <a:off x="5503512" y="1932722"/>
            <a:ext cx="1600200" cy="491602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LITERAL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8997DA88-5F62-721D-2DF2-FB28DC713B8D}"/>
              </a:ext>
            </a:extLst>
          </p:cNvPr>
          <p:cNvSpPr/>
          <p:nvPr/>
        </p:nvSpPr>
        <p:spPr>
          <a:xfrm>
            <a:off x="8132445" y="1891047"/>
            <a:ext cx="1600200" cy="491603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LÓGICO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3863FA54-0382-12DC-2F25-E84EDD6CD024}"/>
              </a:ext>
            </a:extLst>
          </p:cNvPr>
          <p:cNvSpPr/>
          <p:nvPr/>
        </p:nvSpPr>
        <p:spPr>
          <a:xfrm>
            <a:off x="1117742" y="3111338"/>
            <a:ext cx="1325892" cy="49159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INTEIRO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76D918F3-E00C-A4B7-A7AB-2AAED36D1986}"/>
              </a:ext>
            </a:extLst>
          </p:cNvPr>
          <p:cNvSpPr/>
          <p:nvPr/>
        </p:nvSpPr>
        <p:spPr>
          <a:xfrm>
            <a:off x="2892010" y="3101557"/>
            <a:ext cx="1325892" cy="49065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REAL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3C12225-9ACD-D71A-74A1-A5171D5ACCA6}"/>
              </a:ext>
            </a:extLst>
          </p:cNvPr>
          <p:cNvCxnSpPr>
            <a:cxnSpLocks/>
          </p:cNvCxnSpPr>
          <p:nvPr/>
        </p:nvCxnSpPr>
        <p:spPr>
          <a:xfrm>
            <a:off x="2743281" y="1561035"/>
            <a:ext cx="6236398" cy="161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491AF66-805F-CA0D-F620-01BC7AF53322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324310" y="1231023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FDF0421-FB92-4144-A34C-BA6AF8C707BC}"/>
              </a:ext>
            </a:extLst>
          </p:cNvPr>
          <p:cNvCxnSpPr>
            <a:cxnSpLocks/>
          </p:cNvCxnSpPr>
          <p:nvPr/>
        </p:nvCxnSpPr>
        <p:spPr>
          <a:xfrm>
            <a:off x="2746223" y="1562338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5868159-C4EA-E85C-A13F-E117223050D0}"/>
              </a:ext>
            </a:extLst>
          </p:cNvPr>
          <p:cNvCxnSpPr>
            <a:cxnSpLocks/>
          </p:cNvCxnSpPr>
          <p:nvPr/>
        </p:nvCxnSpPr>
        <p:spPr>
          <a:xfrm>
            <a:off x="6324310" y="1577147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A5578B9-69E8-A3C3-9347-B3F2751806CB}"/>
              </a:ext>
            </a:extLst>
          </p:cNvPr>
          <p:cNvCxnSpPr>
            <a:cxnSpLocks/>
          </p:cNvCxnSpPr>
          <p:nvPr/>
        </p:nvCxnSpPr>
        <p:spPr>
          <a:xfrm>
            <a:off x="8979679" y="1561035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BEF715D-5686-5978-CF8C-EA59AAE0F0E8}"/>
              </a:ext>
            </a:extLst>
          </p:cNvPr>
          <p:cNvCxnSpPr>
            <a:cxnSpLocks/>
          </p:cNvCxnSpPr>
          <p:nvPr/>
        </p:nvCxnSpPr>
        <p:spPr>
          <a:xfrm>
            <a:off x="1767625" y="2755639"/>
            <a:ext cx="1791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1E136A7-161B-9507-9C33-069B972E6FBF}"/>
              </a:ext>
            </a:extLst>
          </p:cNvPr>
          <p:cNvCxnSpPr>
            <a:cxnSpLocks/>
          </p:cNvCxnSpPr>
          <p:nvPr/>
        </p:nvCxnSpPr>
        <p:spPr>
          <a:xfrm>
            <a:off x="2748400" y="2409515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5AC647F3-5824-A21A-7531-32281CBB158E}"/>
              </a:ext>
            </a:extLst>
          </p:cNvPr>
          <p:cNvCxnSpPr>
            <a:cxnSpLocks/>
          </p:cNvCxnSpPr>
          <p:nvPr/>
        </p:nvCxnSpPr>
        <p:spPr>
          <a:xfrm>
            <a:off x="1780688" y="2755433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F9AEBF9-FEB7-2D49-8BE9-45BD05980491}"/>
              </a:ext>
            </a:extLst>
          </p:cNvPr>
          <p:cNvCxnSpPr>
            <a:cxnSpLocks/>
          </p:cNvCxnSpPr>
          <p:nvPr/>
        </p:nvCxnSpPr>
        <p:spPr>
          <a:xfrm>
            <a:off x="3554956" y="2755433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ângulo Arredondado 24">
            <a:extLst>
              <a:ext uri="{FF2B5EF4-FFF2-40B4-BE49-F238E27FC236}">
                <a16:creationId xmlns:a16="http://schemas.microsoft.com/office/drawing/2014/main" id="{8C75A79B-2429-C2FF-F8BD-E34F8DF59518}"/>
              </a:ext>
            </a:extLst>
          </p:cNvPr>
          <p:cNvSpPr/>
          <p:nvPr/>
        </p:nvSpPr>
        <p:spPr>
          <a:xfrm>
            <a:off x="4584517" y="3142749"/>
            <a:ext cx="1489411" cy="49159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CARACTERE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2511FE7E-0A4A-65D5-5185-6C51648DAC4B}"/>
              </a:ext>
            </a:extLst>
          </p:cNvPr>
          <p:cNvSpPr/>
          <p:nvPr/>
        </p:nvSpPr>
        <p:spPr>
          <a:xfrm>
            <a:off x="6461464" y="3129454"/>
            <a:ext cx="1325892" cy="49065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TEXTO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6FB1C308-7151-F0D0-20EA-0736EB1586BD}"/>
              </a:ext>
            </a:extLst>
          </p:cNvPr>
          <p:cNvCxnSpPr>
            <a:cxnSpLocks/>
          </p:cNvCxnSpPr>
          <p:nvPr/>
        </p:nvCxnSpPr>
        <p:spPr>
          <a:xfrm>
            <a:off x="5337079" y="2783536"/>
            <a:ext cx="1791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2B560F7-B52A-DBAE-1BC7-F95B174A098E}"/>
              </a:ext>
            </a:extLst>
          </p:cNvPr>
          <p:cNvCxnSpPr>
            <a:cxnSpLocks/>
          </p:cNvCxnSpPr>
          <p:nvPr/>
        </p:nvCxnSpPr>
        <p:spPr>
          <a:xfrm>
            <a:off x="6317854" y="2437412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656095A-1DA2-76E9-C9D6-6D9AF35B9CB8}"/>
              </a:ext>
            </a:extLst>
          </p:cNvPr>
          <p:cNvCxnSpPr>
            <a:cxnSpLocks/>
          </p:cNvCxnSpPr>
          <p:nvPr/>
        </p:nvCxnSpPr>
        <p:spPr>
          <a:xfrm>
            <a:off x="5350142" y="2783330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92B8397-7473-54A4-F204-49F182849AF1}"/>
              </a:ext>
            </a:extLst>
          </p:cNvPr>
          <p:cNvCxnSpPr>
            <a:cxnSpLocks/>
          </p:cNvCxnSpPr>
          <p:nvPr/>
        </p:nvCxnSpPr>
        <p:spPr>
          <a:xfrm>
            <a:off x="7124410" y="2783330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86CA50B-3708-077B-3143-AF6B42094954}"/>
              </a:ext>
            </a:extLst>
          </p:cNvPr>
          <p:cNvSpPr txBox="1"/>
          <p:nvPr/>
        </p:nvSpPr>
        <p:spPr>
          <a:xfrm>
            <a:off x="0" y="-26915"/>
            <a:ext cx="183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Tipos de dados</a:t>
            </a:r>
          </a:p>
        </p:txBody>
      </p:sp>
      <p:sp>
        <p:nvSpPr>
          <p:cNvPr id="33" name="Explosão 2 32">
            <a:extLst>
              <a:ext uri="{FF2B5EF4-FFF2-40B4-BE49-F238E27FC236}">
                <a16:creationId xmlns:a16="http://schemas.microsoft.com/office/drawing/2014/main" id="{0760F684-814D-E035-8BB4-91174BA2DAE6}"/>
              </a:ext>
            </a:extLst>
          </p:cNvPr>
          <p:cNvSpPr/>
          <p:nvPr/>
        </p:nvSpPr>
        <p:spPr>
          <a:xfrm>
            <a:off x="793650" y="3634348"/>
            <a:ext cx="1460587" cy="840751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int</a:t>
            </a:r>
            <a:r>
              <a:rPr lang="pt-BR" dirty="0"/>
              <a:t>()</a:t>
            </a:r>
          </a:p>
        </p:txBody>
      </p:sp>
      <p:sp>
        <p:nvSpPr>
          <p:cNvPr id="34" name="Explosão 2 33">
            <a:extLst>
              <a:ext uri="{FF2B5EF4-FFF2-40B4-BE49-F238E27FC236}">
                <a16:creationId xmlns:a16="http://schemas.microsoft.com/office/drawing/2014/main" id="{76CCFF54-DD21-68A4-7E35-D0B582849DCB}"/>
              </a:ext>
            </a:extLst>
          </p:cNvPr>
          <p:cNvSpPr/>
          <p:nvPr/>
        </p:nvSpPr>
        <p:spPr>
          <a:xfrm>
            <a:off x="2673238" y="3620113"/>
            <a:ext cx="1791685" cy="840751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float</a:t>
            </a:r>
            <a:r>
              <a:rPr lang="pt-BR" dirty="0"/>
              <a:t>()</a:t>
            </a:r>
          </a:p>
        </p:txBody>
      </p:sp>
      <p:sp>
        <p:nvSpPr>
          <p:cNvPr id="35" name="Explosão 2 34">
            <a:extLst>
              <a:ext uri="{FF2B5EF4-FFF2-40B4-BE49-F238E27FC236}">
                <a16:creationId xmlns:a16="http://schemas.microsoft.com/office/drawing/2014/main" id="{296795FF-5F7A-1E8C-35D4-18BD4DF166BF}"/>
              </a:ext>
            </a:extLst>
          </p:cNvPr>
          <p:cNvSpPr/>
          <p:nvPr/>
        </p:nvSpPr>
        <p:spPr>
          <a:xfrm>
            <a:off x="5428943" y="3705489"/>
            <a:ext cx="1460587" cy="840751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str</a:t>
            </a:r>
            <a:r>
              <a:rPr lang="pt-BR" dirty="0"/>
              <a:t>()</a:t>
            </a:r>
          </a:p>
        </p:txBody>
      </p:sp>
      <p:sp>
        <p:nvSpPr>
          <p:cNvPr id="36" name="Explosão 2 35">
            <a:extLst>
              <a:ext uri="{FF2B5EF4-FFF2-40B4-BE49-F238E27FC236}">
                <a16:creationId xmlns:a16="http://schemas.microsoft.com/office/drawing/2014/main" id="{CCB30DB5-1A56-D72E-BE22-D2E23980FA6C}"/>
              </a:ext>
            </a:extLst>
          </p:cNvPr>
          <p:cNvSpPr/>
          <p:nvPr/>
        </p:nvSpPr>
        <p:spPr>
          <a:xfrm>
            <a:off x="8132445" y="2488653"/>
            <a:ext cx="1791680" cy="840751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bool</a:t>
            </a:r>
            <a:r>
              <a:rPr lang="pt-BR" dirty="0"/>
              <a:t>()</a:t>
            </a:r>
          </a:p>
        </p:txBody>
      </p:sp>
      <p:sp>
        <p:nvSpPr>
          <p:cNvPr id="38" name="Balão de Linha 1 37">
            <a:extLst>
              <a:ext uri="{FF2B5EF4-FFF2-40B4-BE49-F238E27FC236}">
                <a16:creationId xmlns:a16="http://schemas.microsoft.com/office/drawing/2014/main" id="{BAE5FFBA-D13B-8545-4074-B517FE35D98F}"/>
              </a:ext>
            </a:extLst>
          </p:cNvPr>
          <p:cNvSpPr/>
          <p:nvPr/>
        </p:nvSpPr>
        <p:spPr>
          <a:xfrm>
            <a:off x="793650" y="4766353"/>
            <a:ext cx="1252244" cy="725005"/>
          </a:xfrm>
          <a:prstGeom prst="borderCallout1">
            <a:avLst>
              <a:gd name="adj1" fmla="val 18750"/>
              <a:gd name="adj2" fmla="val -8333"/>
              <a:gd name="adj3" fmla="val -51939"/>
              <a:gd name="adj4" fmla="val 1527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45</a:t>
            </a:r>
          </a:p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-2</a:t>
            </a:r>
          </a:p>
        </p:txBody>
      </p:sp>
      <p:sp>
        <p:nvSpPr>
          <p:cNvPr id="39" name="Balão de Linha 1 38">
            <a:extLst>
              <a:ext uri="{FF2B5EF4-FFF2-40B4-BE49-F238E27FC236}">
                <a16:creationId xmlns:a16="http://schemas.microsoft.com/office/drawing/2014/main" id="{373E1FA4-80C7-E327-0287-319DE20040EA}"/>
              </a:ext>
            </a:extLst>
          </p:cNvPr>
          <p:cNvSpPr/>
          <p:nvPr/>
        </p:nvSpPr>
        <p:spPr>
          <a:xfrm>
            <a:off x="2746223" y="4769924"/>
            <a:ext cx="1252244" cy="725005"/>
          </a:xfrm>
          <a:prstGeom prst="borderCallout1">
            <a:avLst>
              <a:gd name="adj1" fmla="val 18750"/>
              <a:gd name="adj2" fmla="val -8333"/>
              <a:gd name="adj3" fmla="val -51939"/>
              <a:gd name="adj4" fmla="val 1527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12.56</a:t>
            </a:r>
          </a:p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-0.857</a:t>
            </a:r>
          </a:p>
        </p:txBody>
      </p:sp>
      <p:sp>
        <p:nvSpPr>
          <p:cNvPr id="40" name="Balão de Linha 1 39">
            <a:extLst>
              <a:ext uri="{FF2B5EF4-FFF2-40B4-BE49-F238E27FC236}">
                <a16:creationId xmlns:a16="http://schemas.microsoft.com/office/drawing/2014/main" id="{0F86C869-B98D-A8A6-368E-56DB17D75924}"/>
              </a:ext>
            </a:extLst>
          </p:cNvPr>
          <p:cNvSpPr/>
          <p:nvPr/>
        </p:nvSpPr>
        <p:spPr>
          <a:xfrm>
            <a:off x="4813813" y="4837447"/>
            <a:ext cx="2647585" cy="773100"/>
          </a:xfrm>
          <a:prstGeom prst="borderCallout1">
            <a:avLst>
              <a:gd name="adj1" fmla="val 18750"/>
              <a:gd name="adj2" fmla="val -8333"/>
              <a:gd name="adj3" fmla="val -67704"/>
              <a:gd name="adj4" fmla="val 28538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“!”</a:t>
            </a:r>
          </a:p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“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</a:rPr>
              <a:t>eds@Hotmail.com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41" name="Balão de Linha 1 40">
            <a:extLst>
              <a:ext uri="{FF2B5EF4-FFF2-40B4-BE49-F238E27FC236}">
                <a16:creationId xmlns:a16="http://schemas.microsoft.com/office/drawing/2014/main" id="{ED7949D4-73A0-4DDA-1169-3FCBF9ECC180}"/>
              </a:ext>
            </a:extLst>
          </p:cNvPr>
          <p:cNvSpPr/>
          <p:nvPr/>
        </p:nvSpPr>
        <p:spPr>
          <a:xfrm>
            <a:off x="8357772" y="3821235"/>
            <a:ext cx="1791681" cy="725005"/>
          </a:xfrm>
          <a:prstGeom prst="borderCallout1">
            <a:avLst>
              <a:gd name="adj1" fmla="val 18750"/>
              <a:gd name="adj2" fmla="val -8333"/>
              <a:gd name="adj3" fmla="val -74461"/>
              <a:gd name="adj4" fmla="val 393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rgbClr val="FF0000"/>
                </a:solidFill>
              </a:rPr>
              <a:t>T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</a:rPr>
              <a:t>rue</a:t>
            </a:r>
            <a:endParaRPr lang="pt-BR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F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alse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3BA372-7888-B1A6-7892-9431F87C34A3}"/>
              </a:ext>
            </a:extLst>
          </p:cNvPr>
          <p:cNvSpPr txBox="1"/>
          <p:nvPr/>
        </p:nvSpPr>
        <p:spPr>
          <a:xfrm>
            <a:off x="799823" y="6156414"/>
            <a:ext cx="8849785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i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Todos os demais tipos existentes em outras linguagens são derivados de um destes.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1BDA2D5-E657-718A-9CFB-855D9EB6C546}"/>
              </a:ext>
            </a:extLst>
          </p:cNvPr>
          <p:cNvSpPr txBox="1"/>
          <p:nvPr/>
        </p:nvSpPr>
        <p:spPr>
          <a:xfrm>
            <a:off x="793650" y="5785270"/>
            <a:ext cx="74251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60328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9BB9-D452-7133-1A8B-E44FF2D1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31860681-C653-C491-C866-3AFD082037BA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D6DB041-07D8-790C-8D8C-D14A41DBE84E}"/>
              </a:ext>
            </a:extLst>
          </p:cNvPr>
          <p:cNvSpPr txBox="1"/>
          <p:nvPr/>
        </p:nvSpPr>
        <p:spPr>
          <a:xfrm>
            <a:off x="0" y="-1606"/>
            <a:ext cx="183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Tipos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915D4A8-69FC-BAE3-BFEE-747C7CA6CC64}"/>
              </a:ext>
            </a:extLst>
          </p:cNvPr>
          <p:cNvSpPr txBox="1"/>
          <p:nvPr/>
        </p:nvSpPr>
        <p:spPr>
          <a:xfrm>
            <a:off x="1201928" y="2202291"/>
            <a:ext cx="97881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E-mail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Nome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Telefone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Salário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Qtd. filhos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Preço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CEP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CPF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  <a:endParaRPr lang="pt-BR" sz="2000" dirty="0"/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Altura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Peso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Casado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endParaRPr lang="pt-BR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C38EF6-2A6B-27AB-A5EB-98AE3F2345CD}"/>
              </a:ext>
            </a:extLst>
          </p:cNvPr>
          <p:cNvSpPr txBox="1"/>
          <p:nvPr/>
        </p:nvSpPr>
        <p:spPr>
          <a:xfrm>
            <a:off x="1201928" y="922433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Assinale o TIPO de cada informação abaixo: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03801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FB46-8CF5-70CE-A9C2-E4AE31D9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A8E51114-236B-8CCE-020F-C765062CD47A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383AA09-D0AB-8C66-DA16-E58CEA5E9842}"/>
              </a:ext>
            </a:extLst>
          </p:cNvPr>
          <p:cNvSpPr txBox="1"/>
          <p:nvPr/>
        </p:nvSpPr>
        <p:spPr>
          <a:xfrm>
            <a:off x="0" y="0"/>
            <a:ext cx="183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Tipos de dados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59053C-EEE6-CA1C-084A-09ADF74564E4}"/>
              </a:ext>
            </a:extLst>
          </p:cNvPr>
          <p:cNvSpPr txBox="1"/>
          <p:nvPr/>
        </p:nvSpPr>
        <p:spPr>
          <a:xfrm>
            <a:off x="1830950" y="1424992"/>
            <a:ext cx="85188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chemeClr val="accent6">
                    <a:lumMod val="50000"/>
                  </a:schemeClr>
                </a:solidFill>
              </a:rPr>
              <a:t>Está com dúvida quando a informação é numérica ou texto?</a:t>
            </a:r>
            <a:endParaRPr lang="pt-BR" sz="4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390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59F5-BCD7-B075-D526-47541004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8767DD9F-3A9B-6554-B656-C6632222A08F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501101A-3A5D-14D3-3541-9DD99CE18E9E}"/>
              </a:ext>
            </a:extLst>
          </p:cNvPr>
          <p:cNvSpPr txBox="1"/>
          <p:nvPr/>
        </p:nvSpPr>
        <p:spPr>
          <a:xfrm>
            <a:off x="0" y="0"/>
            <a:ext cx="183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Tipos de dados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3BADD9-4B4B-40EE-E4AC-71D666E3CB9A}"/>
              </a:ext>
            </a:extLst>
          </p:cNvPr>
          <p:cNvSpPr txBox="1"/>
          <p:nvPr/>
        </p:nvSpPr>
        <p:spPr>
          <a:xfrm>
            <a:off x="1830950" y="1424992"/>
            <a:ext cx="85188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chemeClr val="accent6">
                    <a:lumMod val="50000"/>
                  </a:schemeClr>
                </a:solidFill>
              </a:rPr>
              <a:t>Está com dúvida quando a informação é numérica ou texto?</a:t>
            </a:r>
            <a:endParaRPr lang="pt-BR" sz="4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FCD2FE-A5D0-D8E1-E43B-A5139DD0F573}"/>
              </a:ext>
            </a:extLst>
          </p:cNvPr>
          <p:cNvSpPr txBox="1"/>
          <p:nvPr/>
        </p:nvSpPr>
        <p:spPr>
          <a:xfrm>
            <a:off x="1212686" y="3018112"/>
            <a:ext cx="95342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Utilize o tipo numérico (</a:t>
            </a:r>
            <a:r>
              <a:rPr lang="pt-BR" sz="4800" b="1" dirty="0" err="1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int</a:t>
            </a:r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 ou </a:t>
            </a:r>
            <a:r>
              <a:rPr lang="pt-BR" sz="4800" b="1" dirty="0" err="1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float</a:t>
            </a:r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) se puder fazer algum calculo, senão use </a:t>
            </a:r>
            <a:r>
              <a:rPr lang="pt-BR" sz="4800" b="1" dirty="0" err="1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str</a:t>
            </a:r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 (texto).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18309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97A5-596A-7F1C-86E5-6F366DC9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33E2D926-D224-076D-CE32-47B8CB721D14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A846E9A-BAAD-BB0F-530D-6FC73253B43A}"/>
              </a:ext>
            </a:extLst>
          </p:cNvPr>
          <p:cNvSpPr txBox="1"/>
          <p:nvPr/>
        </p:nvSpPr>
        <p:spPr>
          <a:xfrm>
            <a:off x="0" y="0"/>
            <a:ext cx="183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Tipos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67BE6C3-E348-22C6-81DF-1CC78224C5EB}"/>
              </a:ext>
            </a:extLst>
          </p:cNvPr>
          <p:cNvSpPr txBox="1"/>
          <p:nvPr/>
        </p:nvSpPr>
        <p:spPr>
          <a:xfrm>
            <a:off x="941758" y="2260775"/>
            <a:ext cx="1030848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E-mail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Nome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Telefone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Salário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Qtd. filhos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Preço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CEP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CPF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  <a:endParaRPr lang="pt-BR" sz="2000" dirty="0"/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Altura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Peso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Casado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float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   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str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    	[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</a:rPr>
              <a:t>bool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  <a:p>
            <a:endParaRPr lang="pt-BR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4E3E52B-A7E2-423B-8717-20D429926235}"/>
              </a:ext>
            </a:extLst>
          </p:cNvPr>
          <p:cNvSpPr txBox="1"/>
          <p:nvPr/>
        </p:nvSpPr>
        <p:spPr>
          <a:xfrm>
            <a:off x="1158897" y="688463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Então, segue a solução: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4273406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80DF-6785-2A29-1680-3AB28C86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FBB78F08-AB6F-23C7-15CF-CCD1BE0C4563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910000-708B-78FB-C709-F4B91764580C}"/>
              </a:ext>
            </a:extLst>
          </p:cNvPr>
          <p:cNvSpPr txBox="1"/>
          <p:nvPr/>
        </p:nvSpPr>
        <p:spPr>
          <a:xfrm>
            <a:off x="2102067" y="2738875"/>
            <a:ext cx="73581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Variáveis de memória</a:t>
            </a:r>
          </a:p>
        </p:txBody>
      </p:sp>
    </p:spTree>
    <p:extLst>
      <p:ext uri="{BB962C8B-B14F-4D97-AF65-F5344CB8AC3E}">
        <p14:creationId xmlns:p14="http://schemas.microsoft.com/office/powerpoint/2010/main" val="211986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B7CA-41FB-F236-F968-EE46AB14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E0D062FD-7B47-6F72-BE58-2A8676305298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1F270E-5E58-B4C0-ECC2-55D13D5171A6}"/>
              </a:ext>
            </a:extLst>
          </p:cNvPr>
          <p:cNvSpPr txBox="1"/>
          <p:nvPr/>
        </p:nvSpPr>
        <p:spPr>
          <a:xfrm>
            <a:off x="398037" y="273517"/>
            <a:ext cx="2573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Variáveis de memória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AF568F0-8BB5-03B7-E715-28924AB7EF58}"/>
              </a:ext>
            </a:extLst>
          </p:cNvPr>
          <p:cNvSpPr txBox="1"/>
          <p:nvPr/>
        </p:nvSpPr>
        <p:spPr>
          <a:xfrm>
            <a:off x="621075" y="1133875"/>
            <a:ext cx="66094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Uma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variável de memória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 é um espaço na memória do computador reservado para armazenar um valor que pode ser modificado durante a execução do programa.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955281-CF77-C829-D132-7E7658EDC2E0}"/>
              </a:ext>
            </a:extLst>
          </p:cNvPr>
          <p:cNvSpPr txBox="1"/>
          <p:nvPr/>
        </p:nvSpPr>
        <p:spPr>
          <a:xfrm>
            <a:off x="877824" y="307543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Uma 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variável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é como uma “caixa” que tem um: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Tipo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Conteúdo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21E7EA1-2EA7-39FC-8478-CC90BB60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06" y="2108111"/>
            <a:ext cx="3960000" cy="28551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AB5C000-E125-58FB-F17A-FB6B78F4274C}"/>
              </a:ext>
            </a:extLst>
          </p:cNvPr>
          <p:cNvSpPr txBox="1"/>
          <p:nvPr/>
        </p:nvSpPr>
        <p:spPr>
          <a:xfrm>
            <a:off x="4640265" y="3673055"/>
            <a:ext cx="2713928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/>
              <a:t>REGRAS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Começar com letra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Sem caracteres especiais exceto o </a:t>
            </a:r>
            <a:r>
              <a:rPr lang="pt-BR" sz="1400" dirty="0" err="1"/>
              <a:t>underline</a:t>
            </a: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Não ser palavra reservada da linguagem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0444877-CAD7-E44B-A36B-4AD96872354B}"/>
              </a:ext>
            </a:extLst>
          </p:cNvPr>
          <p:cNvSpPr txBox="1"/>
          <p:nvPr/>
        </p:nvSpPr>
        <p:spPr>
          <a:xfrm>
            <a:off x="3115920" y="4471172"/>
            <a:ext cx="1314837" cy="1077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algn="ctr"/>
            <a:r>
              <a:rPr lang="pt-BR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algn="ctr"/>
            <a:r>
              <a:rPr lang="pt-BR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algn="ctr"/>
            <a:r>
              <a:rPr lang="pt-BR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2" name="Conector Angulado 11">
            <a:extLst>
              <a:ext uri="{FF2B5EF4-FFF2-40B4-BE49-F238E27FC236}">
                <a16:creationId xmlns:a16="http://schemas.microsoft.com/office/drawing/2014/main" id="{D00EAC07-A74B-50AF-987C-E1AC090E9CB4}"/>
              </a:ext>
            </a:extLst>
          </p:cNvPr>
          <p:cNvCxnSpPr/>
          <p:nvPr/>
        </p:nvCxnSpPr>
        <p:spPr>
          <a:xfrm>
            <a:off x="1926336" y="3535680"/>
            <a:ext cx="2713929" cy="4632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D40DBCCA-87B7-A491-52B9-4DE92CEC54E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744272" y="3792927"/>
            <a:ext cx="1371648" cy="12168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EAED5E8-B389-1A74-5A9F-AA9114B6CC54}"/>
              </a:ext>
            </a:extLst>
          </p:cNvPr>
          <p:cNvSpPr txBox="1"/>
          <p:nvPr/>
        </p:nvSpPr>
        <p:spPr>
          <a:xfrm>
            <a:off x="1091051" y="5351920"/>
            <a:ext cx="1501542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Valor armazenado mutável</a:t>
            </a:r>
            <a:endParaRPr lang="pt-BR" sz="1400" dirty="0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FD3099A-5330-7557-D389-51344F7889A4}"/>
              </a:ext>
            </a:extLst>
          </p:cNvPr>
          <p:cNvCxnSpPr/>
          <p:nvPr/>
        </p:nvCxnSpPr>
        <p:spPr>
          <a:xfrm>
            <a:off x="1684606" y="4273219"/>
            <a:ext cx="0" cy="1078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F2903EC0-23EF-E79A-27E4-3DE1C07A38EA}"/>
              </a:ext>
            </a:extLst>
          </p:cNvPr>
          <p:cNvSpPr txBox="1"/>
          <p:nvPr/>
        </p:nvSpPr>
        <p:spPr>
          <a:xfrm>
            <a:off x="4640265" y="5178163"/>
            <a:ext cx="5645072" cy="116955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pt-BR" sz="1400" b="1" dirty="0"/>
              <a:t>Dicas: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O padrão do Python são variáveis com letras minúsculas. </a:t>
            </a:r>
            <a:r>
              <a:rPr lang="pt-BR" sz="1400" b="1" dirty="0" err="1"/>
              <a:t>Ex</a:t>
            </a:r>
            <a:r>
              <a:rPr lang="pt-BR" sz="1400" b="1" dirty="0"/>
              <a:t>: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Use o _ para palavras compostas. </a:t>
            </a:r>
            <a:r>
              <a:rPr lang="pt-BR" sz="1400" b="1" dirty="0" err="1"/>
              <a:t>Ex</a:t>
            </a:r>
            <a:r>
              <a:rPr lang="pt-BR" sz="1400" b="1" dirty="0"/>
              <a:t>: nome_mae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Coloque nomes a ver com a informação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82712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DCF14-AB7A-1D23-E144-13DDF698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8568AEF5-AD9F-1E14-F17D-31B5BC6CFE40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21B9C8F-2588-6B7D-B09A-392483B4843B}"/>
              </a:ext>
            </a:extLst>
          </p:cNvPr>
          <p:cNvSpPr txBox="1"/>
          <p:nvPr/>
        </p:nvSpPr>
        <p:spPr>
          <a:xfrm>
            <a:off x="947988" y="2134305"/>
            <a:ext cx="84954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INFORMAÇÃO		SUGESTÃO DE NOME DA VARIÁVEL</a:t>
            </a:r>
          </a:p>
          <a:p>
            <a:r>
              <a:rPr lang="pt-BR" sz="2000" b="1" dirty="0"/>
              <a:t>E-mail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Nome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Telefone</a:t>
            </a:r>
            <a:r>
              <a:rPr lang="pt-BR" sz="2000" dirty="0"/>
              <a:t>		.....................................................</a:t>
            </a:r>
          </a:p>
          <a:p>
            <a:r>
              <a:rPr lang="pt-BR" sz="2000" b="1" dirty="0"/>
              <a:t>Salário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Qtd. filhos</a:t>
            </a:r>
            <a:r>
              <a:rPr lang="pt-BR" sz="2000" dirty="0"/>
              <a:t>		.....................................................</a:t>
            </a:r>
          </a:p>
          <a:p>
            <a:r>
              <a:rPr lang="pt-BR" sz="2000" b="1" dirty="0"/>
              <a:t>Preço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CEP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CPF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Altura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Peso</a:t>
            </a:r>
            <a:r>
              <a:rPr lang="pt-BR" sz="2000" dirty="0"/>
              <a:t>			.....................................................</a:t>
            </a:r>
          </a:p>
          <a:p>
            <a:r>
              <a:rPr lang="pt-BR" sz="2000" b="1" dirty="0"/>
              <a:t>Casado</a:t>
            </a:r>
            <a:r>
              <a:rPr lang="pt-BR" sz="2000" dirty="0"/>
              <a:t>			.....................................................</a:t>
            </a:r>
          </a:p>
          <a:p>
            <a:endParaRPr lang="pt-BR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402168-2862-A681-54A0-42C019FDB6BD}"/>
              </a:ext>
            </a:extLst>
          </p:cNvPr>
          <p:cNvSpPr txBox="1"/>
          <p:nvPr/>
        </p:nvSpPr>
        <p:spPr>
          <a:xfrm>
            <a:off x="0" y="0"/>
            <a:ext cx="2573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Variáveis de memória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5838D9-B231-9243-49D1-02AD62C0258C}"/>
              </a:ext>
            </a:extLst>
          </p:cNvPr>
          <p:cNvSpPr txBox="1"/>
          <p:nvPr/>
        </p:nvSpPr>
        <p:spPr>
          <a:xfrm>
            <a:off x="1286570" y="851709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Considere as informações abaixo e dê nomes válidos às variáveis: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387530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EE1B-9DF2-6209-6E85-7CD029E4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122879B1-6703-1629-C64D-D96F784A5EB6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4D5D655-BCB7-FA9F-9496-FD13F13D7667}"/>
              </a:ext>
            </a:extLst>
          </p:cNvPr>
          <p:cNvSpPr txBox="1"/>
          <p:nvPr/>
        </p:nvSpPr>
        <p:spPr>
          <a:xfrm>
            <a:off x="0" y="0"/>
            <a:ext cx="2573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Variáveis de memória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F10D758-F6E7-03E1-811C-ACF8CCD0B4E3}"/>
              </a:ext>
            </a:extLst>
          </p:cNvPr>
          <p:cNvSpPr txBox="1"/>
          <p:nvPr/>
        </p:nvSpPr>
        <p:spPr>
          <a:xfrm>
            <a:off x="1959207" y="2223639"/>
            <a:ext cx="84954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INFORMAÇÃO		SUGESTÃO DE NOME DA VARIÁVEL</a:t>
            </a:r>
          </a:p>
          <a:p>
            <a:r>
              <a:rPr lang="pt-BR" sz="2000" b="1" dirty="0"/>
              <a:t>E-mail</a:t>
            </a:r>
            <a:r>
              <a:rPr lang="pt-BR" sz="2000" dirty="0"/>
              <a:t>			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000" b="1" dirty="0"/>
              <a:t>Nome</a:t>
            </a:r>
            <a:r>
              <a:rPr lang="pt-BR" sz="2000" dirty="0"/>
              <a:t>		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endParaRPr lang="pt-BR" sz="2000" dirty="0"/>
          </a:p>
          <a:p>
            <a:r>
              <a:rPr lang="pt-BR" sz="2000" b="1" dirty="0"/>
              <a:t>Telefone</a:t>
            </a:r>
            <a:r>
              <a:rPr lang="pt-BR" sz="2000" dirty="0"/>
              <a:t>		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num_fone</a:t>
            </a:r>
            <a:endParaRPr lang="pt-BR" sz="2000" dirty="0"/>
          </a:p>
          <a:p>
            <a:r>
              <a:rPr lang="pt-BR" sz="2000" b="1" dirty="0"/>
              <a:t>Salário</a:t>
            </a:r>
            <a:r>
              <a:rPr lang="pt-BR" sz="2000" dirty="0"/>
              <a:t>		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salario</a:t>
            </a:r>
          </a:p>
          <a:p>
            <a:r>
              <a:rPr lang="pt-BR" sz="2000" b="1" dirty="0" err="1"/>
              <a:t>Qtd</a:t>
            </a:r>
            <a:r>
              <a:rPr lang="pt-BR" sz="2000" b="1" dirty="0"/>
              <a:t>. filhos</a:t>
            </a:r>
            <a:r>
              <a:rPr lang="pt-BR" sz="2000" dirty="0"/>
              <a:t>		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qtd_filhos</a:t>
            </a:r>
            <a:endParaRPr lang="pt-BR" sz="2000" dirty="0"/>
          </a:p>
          <a:p>
            <a:r>
              <a:rPr lang="pt-BR" sz="2000" b="1" dirty="0"/>
              <a:t>Preço</a:t>
            </a:r>
            <a:r>
              <a:rPr lang="pt-BR" sz="2000" dirty="0"/>
              <a:t>			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endParaRPr lang="pt-BR" sz="2000" dirty="0"/>
          </a:p>
          <a:p>
            <a:r>
              <a:rPr lang="pt-BR" sz="2000" b="1" dirty="0"/>
              <a:t>CEP</a:t>
            </a:r>
            <a:r>
              <a:rPr lang="pt-BR" sz="2000" dirty="0"/>
              <a:t>			cep</a:t>
            </a:r>
          </a:p>
          <a:p>
            <a:r>
              <a:rPr lang="pt-BR" sz="2000" b="1" dirty="0"/>
              <a:t>CPF</a:t>
            </a:r>
            <a:r>
              <a:rPr lang="pt-BR" sz="2000" dirty="0"/>
              <a:t>			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cpf</a:t>
            </a:r>
            <a:endParaRPr lang="pt-BR" sz="2000" dirty="0"/>
          </a:p>
          <a:p>
            <a:r>
              <a:rPr lang="pt-BR" sz="2000" b="1" dirty="0"/>
              <a:t>Altura</a:t>
            </a:r>
            <a:r>
              <a:rPr lang="pt-BR" sz="2000" dirty="0"/>
              <a:t>		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altura</a:t>
            </a:r>
            <a:endParaRPr lang="pt-BR" sz="2000" dirty="0"/>
          </a:p>
          <a:p>
            <a:r>
              <a:rPr lang="pt-BR" sz="2000" b="1" dirty="0"/>
              <a:t>Peso</a:t>
            </a:r>
            <a:r>
              <a:rPr lang="pt-BR" sz="2000" dirty="0"/>
              <a:t>		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peso</a:t>
            </a:r>
            <a:endParaRPr lang="pt-BR" sz="2000" dirty="0"/>
          </a:p>
          <a:p>
            <a:r>
              <a:rPr lang="pt-BR" sz="2000" b="1" dirty="0"/>
              <a:t>Casado</a:t>
            </a:r>
            <a:r>
              <a:rPr lang="pt-BR" sz="2000" dirty="0"/>
              <a:t>		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casado</a:t>
            </a:r>
            <a:endParaRPr lang="pt-BR" sz="2000" dirty="0"/>
          </a:p>
          <a:p>
            <a:endParaRPr lang="pt-BR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914605-B249-23D9-9894-7D88D271DF0F}"/>
              </a:ext>
            </a:extLst>
          </p:cNvPr>
          <p:cNvSpPr txBox="1"/>
          <p:nvPr/>
        </p:nvSpPr>
        <p:spPr>
          <a:xfrm>
            <a:off x="1019048" y="851709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Sugestões: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119798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FF1B-3492-BC9F-5028-3AB0FFF4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A2A1AB0-33DE-63A3-CD8B-E8C63F57D32A}"/>
              </a:ext>
            </a:extLst>
          </p:cNvPr>
          <p:cNvSpPr txBox="1"/>
          <p:nvPr/>
        </p:nvSpPr>
        <p:spPr>
          <a:xfrm>
            <a:off x="4048840" y="4835431"/>
            <a:ext cx="6955751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@BeabaDaProgramacaoEds</a:t>
            </a:r>
          </a:p>
        </p:txBody>
      </p:sp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E72C0940-4890-D345-3CB2-68B86E3E1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89" y="4535225"/>
            <a:ext cx="1369851" cy="136985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95F325B-CDCF-0B89-D2CF-445AC195160B}"/>
              </a:ext>
            </a:extLst>
          </p:cNvPr>
          <p:cNvSpPr txBox="1"/>
          <p:nvPr/>
        </p:nvSpPr>
        <p:spPr>
          <a:xfrm>
            <a:off x="1988127" y="1942668"/>
            <a:ext cx="8215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>
                <a:latin typeface="Mistral" panose="03090702030407020403" pitchFamily="66" charset="0"/>
                <a:cs typeface="MV Boli" panose="02000500030200090000" pitchFamily="2" charset="0"/>
              </a:rPr>
              <a:t>Prof</a:t>
            </a:r>
            <a:r>
              <a:rPr lang="pt-BR" sz="6000" b="1" dirty="0">
                <a:latin typeface="Mistral" panose="03090702030407020403" pitchFamily="66" charset="0"/>
                <a:cs typeface="MV Boli" panose="02000500030200090000" pitchFamily="2" charset="0"/>
              </a:rPr>
              <a:t>. </a:t>
            </a:r>
            <a:r>
              <a:rPr lang="pt-BR" sz="7200" b="1" dirty="0">
                <a:latin typeface="Mistral" panose="03090702030407020403" pitchFamily="66" charset="0"/>
                <a:cs typeface="Kohinoor Telugu" panose="02000000000000000000" pitchFamily="2" charset="77"/>
              </a:rPr>
              <a:t>Edson</a:t>
            </a:r>
            <a:r>
              <a:rPr lang="pt-BR" sz="7200" b="1" dirty="0">
                <a:latin typeface="Mistral" panose="03090702030407020403" pitchFamily="66" charset="0"/>
                <a:cs typeface="MV Boli" panose="02000500030200090000" pitchFamily="2" charset="0"/>
              </a:rPr>
              <a:t> de Oliveira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27DDD84-4612-9E3A-BA11-5169BA45F9D0}"/>
              </a:ext>
            </a:extLst>
          </p:cNvPr>
          <p:cNvSpPr txBox="1"/>
          <p:nvPr/>
        </p:nvSpPr>
        <p:spPr>
          <a:xfrm>
            <a:off x="4107872" y="339002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pt-BR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BeabaProgramAcao</a:t>
            </a:r>
            <a:endParaRPr lang="pt-BR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0626E61-9BB4-F383-F6AD-3FDC1145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56" y="2959890"/>
            <a:ext cx="1875541" cy="1875541"/>
          </a:xfrm>
          <a:prstGeom prst="rect">
            <a:avLst/>
          </a:prstGeom>
        </p:spPr>
      </p:pic>
      <p:pic>
        <p:nvPicPr>
          <p:cNvPr id="19" name="Imagem 18" descr="Logotipo&#10;&#10;O conteúdo gerado por IA pode estar incorreto.">
            <a:extLst>
              <a:ext uri="{FF2B5EF4-FFF2-40B4-BE49-F238E27FC236}">
                <a16:creationId xmlns:a16="http://schemas.microsoft.com/office/drawing/2014/main" id="{A788B384-8724-BCF6-01E2-3D871AE3D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723" y="3252664"/>
            <a:ext cx="1025489" cy="119804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84F714F-12A3-0331-C82F-F120E4D84193}"/>
              </a:ext>
            </a:extLst>
          </p:cNvPr>
          <p:cNvSpPr/>
          <p:nvPr/>
        </p:nvSpPr>
        <p:spPr>
          <a:xfrm>
            <a:off x="1050356" y="853018"/>
            <a:ext cx="9926802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r>
              <a:rPr lang="pt-BR" sz="7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C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BeabaProgramAcao</a:t>
            </a:r>
            <a:endParaRPr lang="pt-BR" sz="7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C000"/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7212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30846</TotalTime>
  <Words>1399</Words>
  <Application>Microsoft Macintosh PowerPoint</Application>
  <PresentationFormat>Widescreen</PresentationFormat>
  <Paragraphs>203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9" baseType="lpstr">
      <vt:lpstr>Abadi MT Condensed Light</vt:lpstr>
      <vt:lpstr>Aptos</vt:lpstr>
      <vt:lpstr>Aptos Display</vt:lpstr>
      <vt:lpstr>Arial</vt:lpstr>
      <vt:lpstr>Consolas</vt:lpstr>
      <vt:lpstr>Courier New</vt:lpstr>
      <vt:lpstr>Ink Free</vt:lpstr>
      <vt:lpstr>Menlo</vt:lpstr>
      <vt:lpstr>Mistral</vt:lpstr>
      <vt:lpstr>Rastanty Cortez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DE OLIVEIRA</dc:creator>
  <cp:lastModifiedBy>EDSON DE OLIVEIRA</cp:lastModifiedBy>
  <cp:revision>43</cp:revision>
  <dcterms:created xsi:type="dcterms:W3CDTF">2025-02-13T17:15:59Z</dcterms:created>
  <dcterms:modified xsi:type="dcterms:W3CDTF">2025-09-01T21:45:36Z</dcterms:modified>
</cp:coreProperties>
</file>