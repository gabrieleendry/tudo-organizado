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3" r:id="rId2"/>
    <p:sldId id="294" r:id="rId3"/>
    <p:sldId id="310" r:id="rId4"/>
    <p:sldId id="419" r:id="rId5"/>
    <p:sldId id="295" r:id="rId6"/>
    <p:sldId id="296" r:id="rId7"/>
    <p:sldId id="299" r:id="rId8"/>
    <p:sldId id="420" r:id="rId9"/>
    <p:sldId id="297" r:id="rId10"/>
    <p:sldId id="418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/>
    <p:restoredTop sz="94675"/>
  </p:normalViewPr>
  <p:slideViewPr>
    <p:cSldViewPr snapToGrid="0">
      <p:cViewPr varScale="1">
        <p:scale>
          <a:sx n="108" d="100"/>
          <a:sy n="108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EA131-8BA9-4686-712A-83ECA87CC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4DE938-4E15-9932-FF08-C6DE1EDE1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69ED5C-6AF3-0EB8-CB07-7B83DFA0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42F21C-F406-B6E1-0803-11C4DE6D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CB13DE-1865-B29A-EDE9-C040E611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0546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FB192-6E4A-9A43-1AFC-D8D9166C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B08D97-3F40-1AF7-9FF1-9C8DE4963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7EEFD6-A465-C14B-8368-D60B39B81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8020C0-8343-2AD5-7C77-38C80311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591B0B-4F35-2FC8-67E1-4E72EFB8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6658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A836E-A546-0337-0B5E-3311D35B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ECD828-AEEF-2A8A-569F-4C88A3F13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339C80-ADE0-8A1E-2919-F837D88E7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752547-6B63-533F-D607-BE23EEE76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F5A6F5-8CC4-0F18-6C57-DDF75AC2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107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78A70-36F9-425A-7C9F-463AE962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49C4E7-D2B5-4AAC-6C5E-F63525545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3AFE49-4CE6-BDF0-DDE2-3A3A220AD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2B44DD-D4C4-31DC-6740-1DE9D877D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8A922C-5856-37C7-B629-04611C23D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4C05C4-52A3-C74C-C669-0C9CDD245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072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BC013-C0B2-857F-21AA-66DAA3DB3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1558FF-BB6E-04D2-3B33-0DBC3FBE8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31B5F4-7B0E-2438-2F65-685170E77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7A0CA7C-872B-85E7-817C-4175863B5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80C084-7739-CD7D-E2D0-8B3DE01BCE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0B32E7C-7F80-72D4-1866-8CD2F668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7E5D5D7-B332-6B67-8CA5-3A939337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12C8A43-6FBE-8041-FCB9-53ED9880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6116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6E816-B271-9ADA-6915-D5DD3A2F7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1753E92-696E-2673-9528-26ED14AC4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CDD5E95-4EDF-0D40-C5CC-6B317FF8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450ABA2-800F-0FB9-D9DA-2BF3D69C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72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997E938-2FE3-01C6-DFBE-43ED8E38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9B6B26C-7055-7D88-C597-7F9A7BAB2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EF5B35-E654-15A9-94C8-D5DD52488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2387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B908E-CD64-4CAF-3D96-52088EBE8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32FFB8-ADCD-99C2-93CE-9BFECA749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222113-3A59-6BB4-00DF-92900401E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DDED1F-6BCA-F09C-0048-789C4A664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5E9A9D-D965-86D3-AE20-32A21B76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2DA89E-2AF5-71C3-AED0-E1E72C24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325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D098D-6DE6-55F4-6012-6E33D7FC0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CEDC16-6573-8CFA-6ADB-37BB0B716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CFC135-05BD-7B98-5DC4-199F51779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4C0D0F-2354-8930-B584-3DBD69B45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CC64E2-F85B-319C-ED76-76DE1D8A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E55D27-F5CE-344B-932B-D089A4E3D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15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D7DD0-9B25-F12D-4F3A-23B1DBC62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30B270-71BF-ABBD-C164-3789A799A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5A9D47-7EA8-A0E5-74DE-831437369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C85F66-9B85-BBDA-8D51-6F97717B5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5340EF-DCBE-791E-8A67-7A3EBA1AC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29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C19FFC-A58E-3848-CE8B-C6935C6F8C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BCB7A3-B167-10AE-75A1-F1EEF5E7D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3C8E62-0547-5C93-B541-10212F9B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0C40E-E21C-5B4C-B08C-92CC3D7C8C6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7CFDBA-842B-9D48-B053-B7332E15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7D9B27-1B2F-5DE2-B138-E1C16A61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18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9898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77000"/>
                    </a14:imgEffect>
                    <a14:imgEffect>
                      <a14:brightnessContrast contrast="14000"/>
                    </a14:imgEffect>
                  </a14:imgLayer>
                </a14:imgProps>
              </a:ext>
            </a:extLst>
          </a:blip>
          <a:srcRect/>
          <a:stretch>
            <a:fillRect t="-35000" b="-3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FEFC8FE-2CE3-6023-8398-F22FA124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0E8897-8097-F495-FDCD-19551F87C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5F5C82-E4EC-307E-71FC-345053709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0C40E-E21C-5B4C-B08C-92CC3D7C8C61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5AE0CC-2228-EE3C-8C80-4159B97E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3CAE49-7BD8-5573-9F4D-B1043FEED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4C835-C1A2-2341-9639-C40EF26D8D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30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reel/DM_s1JNsdrl/?igsh=aWk1MTl5ZTZ3YWxm" TargetMode="External"/><Relationship Id="rId2" Type="http://schemas.openxmlformats.org/officeDocument/2006/relationships/hyperlink" Target="https://www.instagram.com/reel/DNmO5IKMjAT/?igsh=ZDJtNGpzeHlpanc2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youtu.be/neqzbCZjMqs?si=PcDbEubEzuhdMjhb" TargetMode="External"/><Relationship Id="rId4" Type="http://schemas.openxmlformats.org/officeDocument/2006/relationships/hyperlink" Target="https://youtu.be/P-Vuq4HE2Iw?si=XLraPozdSmpUt8sN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DF7C3-9D0C-31FC-FA2D-D08AA2A0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06A71ED9-CDA8-4345-B777-FB0EC4B838CE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5FA24BA-2C35-46B1-11CE-C04610F0E520}"/>
              </a:ext>
            </a:extLst>
          </p:cNvPr>
          <p:cNvSpPr txBox="1"/>
          <p:nvPr/>
        </p:nvSpPr>
        <p:spPr>
          <a:xfrm>
            <a:off x="3503100" y="2738875"/>
            <a:ext cx="4556055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6000" dirty="0"/>
              <a:t>Casting</a:t>
            </a:r>
          </a:p>
          <a:p>
            <a:pPr algn="ctr"/>
            <a:r>
              <a:rPr lang="pt-BR" sz="3200" dirty="0"/>
              <a:t>Mudança de tipo de dado</a:t>
            </a:r>
          </a:p>
        </p:txBody>
      </p:sp>
    </p:spTree>
    <p:extLst>
      <p:ext uri="{BB962C8B-B14F-4D97-AF65-F5344CB8AC3E}">
        <p14:creationId xmlns:p14="http://schemas.microsoft.com/office/powerpoint/2010/main" val="2412302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ADD7E-0CA3-ABC7-9745-9843FC89B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67EEA689-7790-7345-3C43-1F3D06F8915C}"/>
              </a:ext>
            </a:extLst>
          </p:cNvPr>
          <p:cNvSpPr txBox="1"/>
          <p:nvPr/>
        </p:nvSpPr>
        <p:spPr>
          <a:xfrm>
            <a:off x="0" y="0"/>
            <a:ext cx="1050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Casting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E576DDC-7D29-A38E-B562-4DB99CB86834}"/>
              </a:ext>
            </a:extLst>
          </p:cNvPr>
          <p:cNvSpPr txBox="1"/>
          <p:nvPr/>
        </p:nvSpPr>
        <p:spPr>
          <a:xfrm>
            <a:off x="1019298" y="1268551"/>
            <a:ext cx="101534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Apesar de utilizar os tipos de dados, o Python </a:t>
            </a:r>
            <a:r>
              <a:rPr lang="pt-BR" sz="2400" b="1" dirty="0">
                <a:solidFill>
                  <a:schemeClr val="accent6">
                    <a:lumMod val="50000"/>
                  </a:schemeClr>
                </a:solidFill>
              </a:rPr>
              <a:t>não</a:t>
            </a:r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 é uma linguagem </a:t>
            </a:r>
            <a:r>
              <a:rPr lang="pt-BR" sz="2400" b="1" dirty="0">
                <a:solidFill>
                  <a:schemeClr val="accent6">
                    <a:lumMod val="50000"/>
                  </a:schemeClr>
                </a:solidFill>
              </a:rPr>
              <a:t>fortemente</a:t>
            </a:r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 “</a:t>
            </a:r>
            <a:r>
              <a:rPr lang="pt-BR" sz="2400" b="1" dirty="0" err="1">
                <a:solidFill>
                  <a:schemeClr val="accent6">
                    <a:lumMod val="50000"/>
                  </a:schemeClr>
                </a:solidFill>
              </a:rPr>
              <a:t>tipada</a:t>
            </a:r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”, ou seja, não precisamos definir o tipo da variável antes de usá-la e o seu tipo pode ser modificado durante o programa</a:t>
            </a:r>
          </a:p>
          <a:p>
            <a:pPr algn="ctr"/>
            <a:endParaRPr lang="pt-BR" sz="2400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Seguem os tipos utilizados pelo Python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0A24FAB-42BA-6EB7-E0AA-0C96B4AE3247}"/>
              </a:ext>
            </a:extLst>
          </p:cNvPr>
          <p:cNvSpPr txBox="1"/>
          <p:nvPr/>
        </p:nvSpPr>
        <p:spPr>
          <a:xfrm>
            <a:off x="2514667" y="3414672"/>
            <a:ext cx="716266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) 	</a:t>
            </a:r>
            <a:r>
              <a:rPr lang="pt-BR" sz="2400" dirty="0">
                <a:cs typeface="Consolas" panose="020B0609020204030204" pitchFamily="49" charset="0"/>
                <a:sym typeface="Wingdings" pitchFamily="2" charset="2"/>
              </a:rPr>
              <a:t> 	muda o </a:t>
            </a:r>
            <a:r>
              <a:rPr lang="pt-BR" sz="2400" b="1" dirty="0">
                <a:cs typeface="Consolas" panose="020B0609020204030204" pitchFamily="49" charset="0"/>
                <a:sym typeface="Wingdings" pitchFamily="2" charset="2"/>
              </a:rPr>
              <a:t>valor</a:t>
            </a:r>
            <a:r>
              <a:rPr lang="pt-BR" sz="2400" dirty="0">
                <a:cs typeface="Consolas" panose="020B0609020204030204" pitchFamily="49" charset="0"/>
                <a:sym typeface="Wingdings" pitchFamily="2" charset="2"/>
              </a:rPr>
              <a:t> para inteiro</a:t>
            </a:r>
            <a:endParaRPr lang="pt-BR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) 	</a:t>
            </a:r>
            <a:r>
              <a:rPr lang="pt-BR" sz="2400" dirty="0">
                <a:cs typeface="Consolas" panose="020B0609020204030204" pitchFamily="49" charset="0"/>
                <a:sym typeface="Wingdings" pitchFamily="2" charset="2"/>
              </a:rPr>
              <a:t> 	muda o </a:t>
            </a:r>
            <a:r>
              <a:rPr lang="pt-BR" sz="2400" b="1" dirty="0">
                <a:cs typeface="Consolas" panose="020B0609020204030204" pitchFamily="49" charset="0"/>
                <a:sym typeface="Wingdings" pitchFamily="2" charset="2"/>
              </a:rPr>
              <a:t>valor</a:t>
            </a:r>
            <a:r>
              <a:rPr lang="pt-BR" sz="2400" dirty="0">
                <a:cs typeface="Consolas" panose="020B0609020204030204" pitchFamily="49" charset="0"/>
                <a:sym typeface="Wingdings" pitchFamily="2" charset="2"/>
              </a:rPr>
              <a:t> para real</a:t>
            </a:r>
            <a:endParaRPr lang="pt-BR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) 	</a:t>
            </a:r>
            <a:r>
              <a:rPr lang="pt-BR" sz="2400" dirty="0">
                <a:cs typeface="Consolas" panose="020B0609020204030204" pitchFamily="49" charset="0"/>
                <a:sym typeface="Wingdings" pitchFamily="2" charset="2"/>
              </a:rPr>
              <a:t> 	muda o </a:t>
            </a:r>
            <a:r>
              <a:rPr lang="pt-BR" sz="2400" b="1" dirty="0">
                <a:cs typeface="Consolas" panose="020B0609020204030204" pitchFamily="49" charset="0"/>
                <a:sym typeface="Wingdings" pitchFamily="2" charset="2"/>
              </a:rPr>
              <a:t>valor</a:t>
            </a:r>
            <a:r>
              <a:rPr lang="pt-BR" sz="2400" dirty="0">
                <a:cs typeface="Consolas" panose="020B0609020204030204" pitchFamily="49" charset="0"/>
                <a:sym typeface="Wingdings" pitchFamily="2" charset="2"/>
              </a:rPr>
              <a:t> para texto</a:t>
            </a:r>
          </a:p>
          <a:p>
            <a:r>
              <a:rPr lang="pt-BR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2400" dirty="0">
                <a:latin typeface="Consolas" panose="020B0609020204030204" pitchFamily="49" charset="0"/>
                <a:cs typeface="Consolas" panose="020B0609020204030204" pitchFamily="49" charset="0"/>
              </a:rPr>
              <a:t>) 	</a:t>
            </a:r>
            <a:r>
              <a:rPr lang="pt-BR" sz="2400" dirty="0">
                <a:cs typeface="Consolas" panose="020B0609020204030204" pitchFamily="49" charset="0"/>
                <a:sym typeface="Wingdings" pitchFamily="2" charset="2"/>
              </a:rPr>
              <a:t> 	muda o </a:t>
            </a:r>
            <a:r>
              <a:rPr lang="pt-BR" sz="2400" b="1" dirty="0">
                <a:cs typeface="Consolas" panose="020B0609020204030204" pitchFamily="49" charset="0"/>
                <a:sym typeface="Wingdings" pitchFamily="2" charset="2"/>
              </a:rPr>
              <a:t>valor</a:t>
            </a:r>
            <a:r>
              <a:rPr lang="pt-BR" sz="2400" dirty="0">
                <a:cs typeface="Consolas" panose="020B0609020204030204" pitchFamily="49" charset="0"/>
                <a:sym typeface="Wingdings" pitchFamily="2" charset="2"/>
              </a:rPr>
              <a:t> para lógico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F57CBE-6176-2BF2-651F-AFDD0194BD52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743E581-D03A-166E-A0AA-4F9F21D3E824}"/>
              </a:ext>
            </a:extLst>
          </p:cNvPr>
          <p:cNvSpPr txBox="1"/>
          <p:nvPr/>
        </p:nvSpPr>
        <p:spPr>
          <a:xfrm>
            <a:off x="2033195" y="5589449"/>
            <a:ext cx="7897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ighlight>
                  <a:srgbClr val="00FF00"/>
                </a:highlight>
              </a:rPr>
              <a:t>Em outras linguagens, todos os outros tipos existentes são derivados destes 4.</a:t>
            </a:r>
          </a:p>
        </p:txBody>
      </p:sp>
    </p:spTree>
    <p:extLst>
      <p:ext uri="{BB962C8B-B14F-4D97-AF65-F5344CB8AC3E}">
        <p14:creationId xmlns:p14="http://schemas.microsoft.com/office/powerpoint/2010/main" val="1671085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705AD-B7F9-84AD-4802-417C154FB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48AF3734-3339-A44E-0313-09508C6AAF85}"/>
              </a:ext>
            </a:extLst>
          </p:cNvPr>
          <p:cNvSpPr txBox="1"/>
          <p:nvPr/>
        </p:nvSpPr>
        <p:spPr>
          <a:xfrm>
            <a:off x="0" y="0"/>
            <a:ext cx="1050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Casting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B7FDA54-5B80-5C6B-5DC1-5FBE373D2440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DD91DFA-39FD-1706-D2C1-A435F7CBA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136" y="54472"/>
            <a:ext cx="1270000" cy="4191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397EE96-0D3A-7BD9-A999-9983B7154714}"/>
              </a:ext>
            </a:extLst>
          </p:cNvPr>
          <p:cNvSpPr txBox="1"/>
          <p:nvPr/>
        </p:nvSpPr>
        <p:spPr>
          <a:xfrm>
            <a:off x="3576019" y="3867348"/>
            <a:ext cx="5039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6">
                    <a:lumMod val="50000"/>
                  </a:schemeClr>
                </a:solidFill>
                <a:highlight>
                  <a:srgbClr val="00FF00"/>
                </a:highlight>
              </a:rPr>
              <a:t>A função 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’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highlight>
                  <a:srgbClr val="00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()’ 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highlight>
                  <a:srgbClr val="00FF00"/>
                </a:highlight>
              </a:rPr>
              <a:t>exibe o tipo atual da variável</a:t>
            </a:r>
          </a:p>
          <a:p>
            <a:r>
              <a:rPr lang="pt-BR" dirty="0">
                <a:solidFill>
                  <a:schemeClr val="accent6">
                    <a:lumMod val="50000"/>
                  </a:schemeClr>
                </a:solidFill>
                <a:highlight>
                  <a:srgbClr val="00FF00"/>
                </a:highlight>
              </a:rPr>
              <a:t> </a:t>
            </a:r>
            <a:endParaRPr lang="pt-BR" dirty="0">
              <a:highlight>
                <a:srgbClr val="00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78FB422-8634-8A7D-801B-4E12DDD17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476" y="4573030"/>
            <a:ext cx="2540000" cy="110490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EEDCE4E0-B6D4-6BAF-53AE-ED73496C97AD}"/>
              </a:ext>
            </a:extLst>
          </p:cNvPr>
          <p:cNvSpPr txBox="1"/>
          <p:nvPr/>
        </p:nvSpPr>
        <p:spPr>
          <a:xfrm>
            <a:off x="2746784" y="5774678"/>
            <a:ext cx="6676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A variável </a:t>
            </a:r>
            <a:r>
              <a:rPr lang="pt-BR" b="1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conteúdo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 teve o seu tipo modificado de </a:t>
            </a:r>
            <a:r>
              <a:rPr lang="pt-BR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 para </a:t>
            </a:r>
            <a:r>
              <a:rPr lang="pt-BR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pt-BR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 e </a:t>
            </a:r>
            <a:r>
              <a:rPr lang="pt-BR" b="1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</a:rPr>
              <a:t>, respectivamente, como mostra o output.</a:t>
            </a:r>
            <a:endParaRPr lang="pt-BR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F9763C92-0F2B-6340-A740-73C576E8C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8041" y="1397570"/>
            <a:ext cx="4535917" cy="2365671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C682D7BA-0300-39AC-78E7-C29B13D22DC9}"/>
              </a:ext>
            </a:extLst>
          </p:cNvPr>
          <p:cNvSpPr txBox="1"/>
          <p:nvPr/>
        </p:nvSpPr>
        <p:spPr>
          <a:xfrm>
            <a:off x="1318138" y="121136"/>
            <a:ext cx="95342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Veja o exemplo abaixo:</a:t>
            </a:r>
            <a:endParaRPr lang="pt-BR" sz="4800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56AEC7D-918E-6CB3-74AF-7FBCBBC5131D}"/>
              </a:ext>
            </a:extLst>
          </p:cNvPr>
          <p:cNvSpPr txBox="1"/>
          <p:nvPr/>
        </p:nvSpPr>
        <p:spPr>
          <a:xfrm>
            <a:off x="3828041" y="1083322"/>
            <a:ext cx="61427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Code</a:t>
            </a:r>
            <a:endParaRPr lang="pt-BR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D34DC10-9ABE-2AC1-4E66-704E0CB72F6F}"/>
              </a:ext>
            </a:extLst>
          </p:cNvPr>
          <p:cNvSpPr txBox="1"/>
          <p:nvPr/>
        </p:nvSpPr>
        <p:spPr>
          <a:xfrm>
            <a:off x="4733476" y="4265253"/>
            <a:ext cx="82907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304112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8DCB2-8AF4-74A0-3DA8-6C04AAE35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37B5C78E-4D88-331A-E588-E91075240C06}"/>
              </a:ext>
            </a:extLst>
          </p:cNvPr>
          <p:cNvSpPr txBox="1"/>
          <p:nvPr/>
        </p:nvSpPr>
        <p:spPr>
          <a:xfrm>
            <a:off x="0" y="0"/>
            <a:ext cx="1050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Casting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1F35B2E-D236-EAB6-087E-3B15FE8D4047}"/>
              </a:ext>
            </a:extLst>
          </p:cNvPr>
          <p:cNvSpPr txBox="1"/>
          <p:nvPr/>
        </p:nvSpPr>
        <p:spPr>
          <a:xfrm>
            <a:off x="1017322" y="2283312"/>
            <a:ext cx="1015340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Casting é um mecanismo utilizado no Python para garantir harmonia entre diferentes tipos de dados, seja na manipulação de variáveis ou no armazenamento em dispositivos, como um banco de dados.</a:t>
            </a:r>
            <a:br>
              <a:rPr lang="pt-BR" sz="2400" dirty="0">
                <a:solidFill>
                  <a:schemeClr val="accent6">
                    <a:lumMod val="50000"/>
                  </a:schemeClr>
                </a:solidFill>
              </a:rPr>
            </a:br>
            <a:endParaRPr lang="pt-BR" sz="2400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A possibilidade de alterar tanto o conteúdo quanto o tipo de uma variável, recurso permitido pelo Python, pode gerar erros de exceção se não for usada corretamente.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7B6CB5-638C-3CEA-0931-A7C2F89F5775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C3CEF9-07D7-FF89-F1B1-AE1751319B31}"/>
              </a:ext>
            </a:extLst>
          </p:cNvPr>
          <p:cNvSpPr txBox="1"/>
          <p:nvPr/>
        </p:nvSpPr>
        <p:spPr>
          <a:xfrm>
            <a:off x="1318138" y="121136"/>
            <a:ext cx="95342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Problemas de linguagens fracamente </a:t>
            </a:r>
            <a:r>
              <a:rPr lang="pt-BR" sz="4800" b="1" dirty="0" err="1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tipadas</a:t>
            </a:r>
            <a:r>
              <a:rPr lang="pt-BR" sz="4800" b="1" dirty="0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.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3142165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D440E-7ADD-1E5E-E88D-A6D478589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E10FDC16-6770-8731-8C84-386290AB69F1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E45E817-ADDE-C406-6E49-1B7098ED0716}"/>
              </a:ext>
            </a:extLst>
          </p:cNvPr>
          <p:cNvSpPr txBox="1"/>
          <p:nvPr/>
        </p:nvSpPr>
        <p:spPr>
          <a:xfrm>
            <a:off x="780586" y="1200006"/>
            <a:ext cx="100360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5000" dirty="0"/>
              <a:t>Operadores Aritméticos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0932A84-0684-6A86-2920-BAE2AE7E60B7}"/>
              </a:ext>
            </a:extLst>
          </p:cNvPr>
          <p:cNvSpPr txBox="1"/>
          <p:nvPr/>
        </p:nvSpPr>
        <p:spPr>
          <a:xfrm>
            <a:off x="3044283" y="3021980"/>
            <a:ext cx="1995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Vídeos sugeridos: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8C328A2-141F-5340-D5AC-FDEB175BB976}"/>
              </a:ext>
            </a:extLst>
          </p:cNvPr>
          <p:cNvSpPr txBox="1"/>
          <p:nvPr/>
        </p:nvSpPr>
        <p:spPr>
          <a:xfrm>
            <a:off x="3044283" y="3466689"/>
            <a:ext cx="85251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https://www.instagram.com/reel/DNmO5IKMjAT/?igsh=ZDJtNGpzeHlpanc2</a:t>
            </a:r>
            <a:endParaRPr lang="pt-BR" dirty="0"/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94F005F-D344-9608-19E6-36AF564E78E5}"/>
              </a:ext>
            </a:extLst>
          </p:cNvPr>
          <p:cNvSpPr txBox="1"/>
          <p:nvPr/>
        </p:nvSpPr>
        <p:spPr>
          <a:xfrm>
            <a:off x="3044283" y="3836021"/>
            <a:ext cx="83411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https://www.instagram.com/reel/DM_s1JNsdrl/?igsh=aWk1MTl5ZTZ3YWxm</a:t>
            </a:r>
            <a:endParaRPr lang="pt-BR" dirty="0"/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46A510-B8A2-3D19-2C73-C9AB5260D930}"/>
              </a:ext>
            </a:extLst>
          </p:cNvPr>
          <p:cNvSpPr txBox="1"/>
          <p:nvPr/>
        </p:nvSpPr>
        <p:spPr>
          <a:xfrm>
            <a:off x="3044283" y="4205353"/>
            <a:ext cx="609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https://youtu.be/P-Vuq4HE2Iw?si=XLraPozdSmpUt8sN</a:t>
            </a:r>
            <a:endParaRPr lang="pt-BR" dirty="0"/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E52CFB-58E9-C793-7424-D2D4192ED15E}"/>
              </a:ext>
            </a:extLst>
          </p:cNvPr>
          <p:cNvSpPr txBox="1"/>
          <p:nvPr/>
        </p:nvSpPr>
        <p:spPr>
          <a:xfrm>
            <a:off x="3044283" y="4574685"/>
            <a:ext cx="609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5"/>
              </a:rPr>
              <a:t>https://youtu.be/neqzbCZjMqs?si=PcDbEubEzuhdMjhb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8370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3F427-E119-1FAC-21D1-63AE55D17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D4C4894A-920D-B269-A48F-6B953E7390AA}"/>
              </a:ext>
            </a:extLst>
          </p:cNvPr>
          <p:cNvSpPr txBox="1"/>
          <p:nvPr/>
        </p:nvSpPr>
        <p:spPr>
          <a:xfrm>
            <a:off x="0" y="0"/>
            <a:ext cx="28729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Operadores Aritméticos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2C8ABF5-45B0-E501-2C60-9DE9E1AF646A}"/>
              </a:ext>
            </a:extLst>
          </p:cNvPr>
          <p:cNvSpPr txBox="1"/>
          <p:nvPr/>
        </p:nvSpPr>
        <p:spPr>
          <a:xfrm>
            <a:off x="549156" y="1044084"/>
            <a:ext cx="101534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A matemática tem os seus </a:t>
            </a:r>
            <a:r>
              <a:rPr lang="pt-BR" sz="2400" b="1" dirty="0">
                <a:solidFill>
                  <a:schemeClr val="accent6">
                    <a:lumMod val="50000"/>
                  </a:schemeClr>
                </a:solidFill>
              </a:rPr>
              <a:t>operadores</a:t>
            </a:r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, da mesma forma a linguagem de</a:t>
            </a:r>
          </a:p>
          <a:p>
            <a:pPr algn="ctr"/>
            <a:r>
              <a:rPr lang="pt-BR" sz="2400" dirty="0">
                <a:solidFill>
                  <a:schemeClr val="accent6">
                    <a:lumMod val="50000"/>
                  </a:schemeClr>
                </a:solidFill>
              </a:rPr>
              <a:t>programação. Alguns são exclusivos, outros coincidem ou não.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A9329C-57E4-0323-F711-CC9BEA0A27A5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4CA242E-63CE-4DF8-F61E-E377BC7BB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658" y="1875081"/>
            <a:ext cx="7772400" cy="3147213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B7914BA-8375-DF7A-1FCF-8BAC66160D19}"/>
              </a:ext>
            </a:extLst>
          </p:cNvPr>
          <p:cNvSpPr txBox="1"/>
          <p:nvPr/>
        </p:nvSpPr>
        <p:spPr>
          <a:xfrm>
            <a:off x="1092200" y="5114627"/>
            <a:ext cx="92837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Assim como na matemática, os operadores tem precedência e esta se divide em três níveis, segue a ordem: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**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//, %, / e * (caso em uma expressão tenham mais de um resolva o que vier primeiro)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+ e -</a:t>
            </a:r>
          </a:p>
        </p:txBody>
      </p:sp>
    </p:spTree>
    <p:extLst>
      <p:ext uri="{BB962C8B-B14F-4D97-AF65-F5344CB8AC3E}">
        <p14:creationId xmlns:p14="http://schemas.microsoft.com/office/powerpoint/2010/main" val="1129464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9C950-00A9-A816-5CEF-4DB9EC67F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D5231A1F-4BB3-017B-5627-8A650612D59C}"/>
              </a:ext>
            </a:extLst>
          </p:cNvPr>
          <p:cNvSpPr txBox="1"/>
          <p:nvPr/>
        </p:nvSpPr>
        <p:spPr>
          <a:xfrm>
            <a:off x="0" y="0"/>
            <a:ext cx="41248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Operadores Aritméticos - Exemplos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2AE94C-CD2B-23A7-57A7-28EBB7A8D693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13263CE-B099-19F6-C838-6FE99BE49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136" y="54472"/>
            <a:ext cx="1270000" cy="419100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D90AAE3A-FF33-12B4-5598-7CB7CCEBD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379" y="1095019"/>
            <a:ext cx="8731242" cy="520271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1948BAC-A01A-A699-688D-74416C9E2DB9}"/>
              </a:ext>
            </a:extLst>
          </p:cNvPr>
          <p:cNvSpPr txBox="1"/>
          <p:nvPr/>
        </p:nvSpPr>
        <p:spPr>
          <a:xfrm>
            <a:off x="1144417" y="264022"/>
            <a:ext cx="95342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Segue a aplicação de alguns exemplos: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2491482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2507E-40D2-4CC8-5D11-703B1D94C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4D915D38-DC9D-7CE9-528B-6157BE7669E4}"/>
              </a:ext>
            </a:extLst>
          </p:cNvPr>
          <p:cNvSpPr txBox="1"/>
          <p:nvPr/>
        </p:nvSpPr>
        <p:spPr>
          <a:xfrm>
            <a:off x="0" y="0"/>
            <a:ext cx="1050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r>
              <a:rPr lang="pt-BR" sz="2000" dirty="0"/>
              <a:t>Casting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EC7BA6A-0638-1BF6-0CC8-63FBAA55C786}"/>
              </a:ext>
            </a:extLst>
          </p:cNvPr>
          <p:cNvSpPr txBox="1"/>
          <p:nvPr/>
        </p:nvSpPr>
        <p:spPr>
          <a:xfrm>
            <a:off x="916961" y="867108"/>
            <a:ext cx="10153404" cy="7048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Considere as variáveis abaixo com os seguintes valores:</a:t>
            </a:r>
          </a:p>
          <a:p>
            <a:pPr algn="just"/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10,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5,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3,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20.5, e = 7.5,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0.75,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“Python” e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“Lógica de programação”,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2.5</a:t>
            </a:r>
          </a:p>
          <a:p>
            <a:pPr algn="just"/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Analise as expressões abaixo e mostre os resultados em </a:t>
            </a:r>
            <a:r>
              <a:rPr lang="pt-BR" sz="2000" b="1" dirty="0" err="1">
                <a:solidFill>
                  <a:schemeClr val="accent6">
                    <a:lumMod val="50000"/>
                  </a:schemeClr>
                </a:solidFill>
              </a:rPr>
              <a:t>resp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 para cada cálculo:</a:t>
            </a:r>
          </a:p>
          <a:p>
            <a:pPr algn="just"/>
            <a:endParaRPr lang="pt-BR" sz="2000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pt-BR" b="1" dirty="0">
                <a:solidFill>
                  <a:schemeClr val="accent6">
                    <a:lumMod val="50000"/>
                  </a:schemeClr>
                </a:solidFill>
                <a:cs typeface="Courier New" panose="02070309020205020404" pitchFamily="49" charset="0"/>
              </a:rPr>
              <a:t>a)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cs typeface="Courier New" panose="02070309020205020404" pitchFamily="49" charset="0"/>
              </a:rPr>
              <a:t>Antes, responda quais os tipos identificados nas variável acima?</a:t>
            </a:r>
          </a:p>
          <a:p>
            <a:pPr algn="just"/>
            <a:r>
              <a:rPr lang="pt-BR" b="1" dirty="0">
                <a:solidFill>
                  <a:schemeClr val="accent6">
                    <a:lumMod val="50000"/>
                  </a:schemeClr>
                </a:solidFill>
                <a:cs typeface="Courier New" panose="02070309020205020404" pitchFamily="49" charset="0"/>
              </a:rPr>
              <a:t>b)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 –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pt-BR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pt-BR" b="1" dirty="0">
                <a:solidFill>
                  <a:schemeClr val="accent6">
                    <a:lumMod val="50000"/>
                  </a:schemeClr>
                </a:solidFill>
                <a:cs typeface="Courier New" panose="02070309020205020404" pitchFamily="49" charset="0"/>
              </a:rPr>
              <a:t>c)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e -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endParaRPr lang="pt-BR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pt-BR" b="1" dirty="0">
                <a:solidFill>
                  <a:schemeClr val="accent6">
                    <a:lumMod val="50000"/>
                  </a:schemeClr>
                </a:solidFill>
                <a:cs typeface="Courier New" panose="02070309020205020404" pitchFamily="49" charset="0"/>
              </a:rPr>
              <a:t>d)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endParaRPr lang="pt-BR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pt-BR" b="1" dirty="0">
                <a:solidFill>
                  <a:schemeClr val="accent6">
                    <a:lumMod val="50000"/>
                  </a:schemeClr>
                </a:solidFill>
                <a:cs typeface="Courier New" panose="02070309020205020404" pitchFamily="49" charset="0"/>
              </a:rPr>
              <a:t>e)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 *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pt-BR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pt-BR" b="1" dirty="0">
                <a:solidFill>
                  <a:schemeClr val="accent6">
                    <a:lumMod val="50000"/>
                  </a:schemeClr>
                </a:solidFill>
                <a:cs typeface="Courier New" panose="02070309020205020404" pitchFamily="49" charset="0"/>
              </a:rPr>
              <a:t>f)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 %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pt-BR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pt-BR" b="1" dirty="0">
                <a:solidFill>
                  <a:schemeClr val="accent6">
                    <a:lumMod val="50000"/>
                  </a:schemeClr>
                </a:solidFill>
                <a:cs typeface="Courier New" panose="02070309020205020404" pitchFamily="49" charset="0"/>
              </a:rPr>
              <a:t>g)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 %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endParaRPr lang="pt-BR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pt-BR" b="1" dirty="0">
                <a:solidFill>
                  <a:schemeClr val="accent6">
                    <a:lumMod val="50000"/>
                  </a:schemeClr>
                </a:solidFill>
                <a:cs typeface="Courier New" panose="02070309020205020404" pitchFamily="49" charset="0"/>
              </a:rPr>
              <a:t>h)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 + d / c – f</a:t>
            </a:r>
          </a:p>
          <a:p>
            <a:pPr algn="just"/>
            <a:r>
              <a:rPr lang="pt-BR" b="1" dirty="0">
                <a:solidFill>
                  <a:schemeClr val="accent6">
                    <a:lumMod val="50000"/>
                  </a:schemeClr>
                </a:solidFill>
                <a:cs typeface="Courier New" panose="02070309020205020404" pitchFamily="49" charset="0"/>
              </a:rPr>
              <a:t>i)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h + g + ‘.’</a:t>
            </a:r>
          </a:p>
          <a:p>
            <a:pPr algn="just"/>
            <a:r>
              <a:rPr lang="pt-BR" b="1" dirty="0">
                <a:solidFill>
                  <a:schemeClr val="accent6">
                    <a:lumMod val="50000"/>
                  </a:schemeClr>
                </a:solidFill>
                <a:cs typeface="Courier New" panose="02070309020205020404" pitchFamily="49" charset="0"/>
              </a:rPr>
              <a:t>j)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% a + d // e</a:t>
            </a:r>
          </a:p>
          <a:p>
            <a:pPr algn="just"/>
            <a:r>
              <a:rPr lang="pt-BR" b="1" dirty="0">
                <a:solidFill>
                  <a:schemeClr val="accent6">
                    <a:lumMod val="50000"/>
                  </a:schemeClr>
                </a:solidFill>
                <a:cs typeface="Courier New" panose="02070309020205020404" pitchFamily="49" charset="0"/>
              </a:rPr>
              <a:t>k)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(a +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% e</a:t>
            </a:r>
          </a:p>
          <a:p>
            <a:pPr algn="just"/>
            <a:r>
              <a:rPr lang="pt-BR" b="1" dirty="0">
                <a:solidFill>
                  <a:schemeClr val="accent6">
                    <a:lumMod val="50000"/>
                  </a:schemeClr>
                </a:solidFill>
                <a:cs typeface="Courier New" panose="02070309020205020404" pitchFamily="49" charset="0"/>
              </a:rPr>
              <a:t>l)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endParaRPr lang="pt-BR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pt-BR" b="1" dirty="0">
                <a:solidFill>
                  <a:schemeClr val="accent6">
                    <a:lumMod val="50000"/>
                  </a:schemeClr>
                </a:solidFill>
                <a:cs typeface="Courier New" panose="02070309020205020404" pitchFamily="49" charset="0"/>
              </a:rPr>
              <a:t>m)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(5) +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endParaRPr lang="pt-BR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pt-BR" b="1" dirty="0">
                <a:solidFill>
                  <a:schemeClr val="accent6">
                    <a:lumMod val="50000"/>
                  </a:schemeClr>
                </a:solidFill>
                <a:cs typeface="Courier New" panose="02070309020205020404" pitchFamily="49" charset="0"/>
              </a:rPr>
              <a:t>n)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 /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pt-BR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just"/>
            <a:endParaRPr lang="pt-BR" sz="2000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endParaRPr lang="pt-BR" sz="2000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endParaRPr lang="pt-BR" sz="2000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endParaRPr lang="pt-BR" sz="2000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 algn="just">
              <a:buAutoNum type="alphaLcParenR"/>
            </a:pPr>
            <a:endParaRPr lang="pt-BR" sz="2000" b="1" dirty="0">
              <a:solidFill>
                <a:schemeClr val="accent6">
                  <a:lumMod val="50000"/>
                </a:schemeClr>
              </a:solidFill>
              <a:cs typeface="Courier New" panose="02070309020205020404" pitchFamily="49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6D5BE5-E80E-44FD-88C6-56BA2391D7B1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F17D771-66DD-8AFD-E398-E10150F3575C}"/>
              </a:ext>
            </a:extLst>
          </p:cNvPr>
          <p:cNvSpPr txBox="1"/>
          <p:nvPr/>
        </p:nvSpPr>
        <p:spPr>
          <a:xfrm>
            <a:off x="1318138" y="121136"/>
            <a:ext cx="9534203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500" b="1" dirty="0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Exercícios</a:t>
            </a:r>
            <a:r>
              <a:rPr lang="pt-BR" sz="4800" b="1" dirty="0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: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3983025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1F66-D4EF-C79B-3FC5-6D09C7B5F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aixaDeTexto 94">
            <a:extLst>
              <a:ext uri="{FF2B5EF4-FFF2-40B4-BE49-F238E27FC236}">
                <a16:creationId xmlns:a16="http://schemas.microsoft.com/office/drawing/2014/main" id="{F0D1E65E-997F-C611-BFE0-978174F6A542}"/>
              </a:ext>
            </a:extLst>
          </p:cNvPr>
          <p:cNvSpPr txBox="1"/>
          <p:nvPr/>
        </p:nvSpPr>
        <p:spPr>
          <a:xfrm>
            <a:off x="10149453" y="6304002"/>
            <a:ext cx="204254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Edson de Oliveira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Instagram | Tiktok: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@BeabaProgramacao</a:t>
            </a:r>
          </a:p>
          <a:p>
            <a:pPr algn="r"/>
            <a:r>
              <a:rPr lang="pt-BR" sz="1000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Youtube: 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@</a:t>
            </a:r>
            <a:r>
              <a:rPr lang="pt-BR" sz="1000" b="1" dirty="0">
                <a:latin typeface="Abadi MT Condensed Light" panose="020B0306030101010103" pitchFamily="34" charset="77"/>
                <a:cs typeface="Futura Medium" panose="020B0602020204020303" pitchFamily="34" charset="-79"/>
              </a:rPr>
              <a:t>BeabaDaProgramacaoEds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D3559BC-0786-C5E0-5768-38AC31791326}"/>
              </a:ext>
            </a:extLst>
          </p:cNvPr>
          <p:cNvSpPr txBox="1"/>
          <p:nvPr/>
        </p:nvSpPr>
        <p:spPr>
          <a:xfrm>
            <a:off x="360894" y="246155"/>
            <a:ext cx="29081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2000" b="1">
                <a:solidFill>
                  <a:srgbClr val="FF0065"/>
                </a:solidFill>
                <a:latin typeface="Ink Free" panose="03080402000500000000" pitchFamily="66" charset="0"/>
                <a:cs typeface="Fairwater Script" panose="020F0502020204030204" pitchFamily="34" charset="0"/>
              </a:defRPr>
            </a:lvl1pPr>
          </a:lstStyle>
          <a:p>
            <a:pPr algn="ctr"/>
            <a:r>
              <a:rPr lang="pt-BR" sz="2000" dirty="0"/>
              <a:t>Operadores aritméticos: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A821723-6FE8-2CF9-93CE-B368A21C25B0}"/>
              </a:ext>
            </a:extLst>
          </p:cNvPr>
          <p:cNvSpPr txBox="1"/>
          <p:nvPr/>
        </p:nvSpPr>
        <p:spPr>
          <a:xfrm>
            <a:off x="1333500" y="1436320"/>
            <a:ext cx="75057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accent6">
                    <a:lumMod val="50000"/>
                  </a:schemeClr>
                </a:solidFill>
              </a:rPr>
              <a:t>Considere as variáveis abaixo e os seus respectivos conteúdos:</a:t>
            </a:r>
          </a:p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a = 10		</a:t>
            </a:r>
            <a:r>
              <a:rPr lang="pt-BR" dirty="0" err="1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= 6.5</a:t>
            </a:r>
          </a:p>
          <a:p>
            <a:r>
              <a:rPr lang="pt-BR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= 2		</a:t>
            </a:r>
            <a:r>
              <a:rPr lang="pt-BR" dirty="0" err="1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= 2.7</a:t>
            </a:r>
          </a:p>
          <a:p>
            <a:r>
              <a:rPr lang="pt-BR" dirty="0" err="1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= 3		</a:t>
            </a:r>
            <a:r>
              <a:rPr lang="pt-BR" dirty="0" err="1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= 4.0</a:t>
            </a:r>
          </a:p>
          <a:p>
            <a:endParaRPr lang="pt-BR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800" dirty="0">
                <a:solidFill>
                  <a:schemeClr val="accent6">
                    <a:lumMod val="50000"/>
                  </a:schemeClr>
                </a:solidFill>
              </a:rPr>
              <a:t>Analise as expressões abaixo de diga qual o valor de </a:t>
            </a:r>
            <a:r>
              <a:rPr lang="pt-BR" sz="1800" dirty="0" err="1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resp</a:t>
            </a:r>
            <a:r>
              <a:rPr lang="pt-BR" sz="1800" dirty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6A5EA4-1196-9430-752E-70DB0615B4E1}"/>
              </a:ext>
            </a:extLst>
          </p:cNvPr>
          <p:cNvSpPr txBox="1"/>
          <p:nvPr/>
        </p:nvSpPr>
        <p:spPr>
          <a:xfrm>
            <a:off x="1333500" y="3215630"/>
            <a:ext cx="9017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1.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a +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.....................................................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2.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a *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	.....................................................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3.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a %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+ 10 %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.....................................................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4.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a //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+ 10 //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.....................................................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5.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%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%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.....................................................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6.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a %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//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.....................................................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7.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* (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.....................................................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8.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a /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**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	.....................................................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9.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% a) - (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//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.....................................................</a:t>
            </a:r>
          </a:p>
          <a:p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10.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a /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pt-B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</a:rPr>
              <a:t>	.....................................................</a:t>
            </a:r>
          </a:p>
          <a:p>
            <a:endParaRPr lang="pt-BR" sz="2000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pt-BR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99B364-484E-F799-2C54-01D702CDE1CA}"/>
              </a:ext>
            </a:extLst>
          </p:cNvPr>
          <p:cNvSpPr txBox="1"/>
          <p:nvPr/>
        </p:nvSpPr>
        <p:spPr>
          <a:xfrm>
            <a:off x="3176802" y="555849"/>
            <a:ext cx="57461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b="1" dirty="0">
                <a:solidFill>
                  <a:schemeClr val="accent6">
                    <a:lumMod val="50000"/>
                  </a:schemeClr>
                </a:solidFill>
                <a:latin typeface="Rastanty Cortez" panose="02000506000000020003" pitchFamily="2" charset="77"/>
              </a:rPr>
              <a:t>Pratiquem sábado a noite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648728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CFF1B-3492-BC9F-5028-3AB0FFF46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A2A1AB0-33DE-63A3-CD8B-E8C63F57D32A}"/>
              </a:ext>
            </a:extLst>
          </p:cNvPr>
          <p:cNvSpPr txBox="1"/>
          <p:nvPr/>
        </p:nvSpPr>
        <p:spPr>
          <a:xfrm>
            <a:off x="4048840" y="4835431"/>
            <a:ext cx="6955751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pt-BR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@BeabaDaProgramacaoEds</a:t>
            </a:r>
          </a:p>
        </p:txBody>
      </p:sp>
      <p:pic>
        <p:nvPicPr>
          <p:cNvPr id="5" name="Imagem 4" descr="Logotipo, Ícone&#10;&#10;O conteúdo gerado por IA pode estar incorreto.">
            <a:extLst>
              <a:ext uri="{FF2B5EF4-FFF2-40B4-BE49-F238E27FC236}">
                <a16:creationId xmlns:a16="http://schemas.microsoft.com/office/drawing/2014/main" id="{E72C0940-4890-D345-3CB2-68B86E3E15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89" y="4535225"/>
            <a:ext cx="1369851" cy="136985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95F325B-CDCF-0B89-D2CF-445AC195160B}"/>
              </a:ext>
            </a:extLst>
          </p:cNvPr>
          <p:cNvSpPr txBox="1"/>
          <p:nvPr/>
        </p:nvSpPr>
        <p:spPr>
          <a:xfrm>
            <a:off x="1988127" y="1942668"/>
            <a:ext cx="82157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>
                <a:latin typeface="Mistral" panose="03090702030407020403" pitchFamily="66" charset="0"/>
                <a:cs typeface="MV Boli" panose="02000500030200090000" pitchFamily="2" charset="0"/>
              </a:rPr>
              <a:t>Prof</a:t>
            </a:r>
            <a:r>
              <a:rPr lang="pt-BR" sz="6000" b="1" dirty="0">
                <a:latin typeface="Mistral" panose="03090702030407020403" pitchFamily="66" charset="0"/>
                <a:cs typeface="MV Boli" panose="02000500030200090000" pitchFamily="2" charset="0"/>
              </a:rPr>
              <a:t>. </a:t>
            </a:r>
            <a:r>
              <a:rPr lang="pt-BR" sz="7200" b="1" dirty="0">
                <a:latin typeface="Mistral" panose="03090702030407020403" pitchFamily="66" charset="0"/>
                <a:cs typeface="Kohinoor Telugu" panose="02000000000000000000" pitchFamily="2" charset="77"/>
              </a:rPr>
              <a:t>Edson</a:t>
            </a:r>
            <a:r>
              <a:rPr lang="pt-BR" sz="7200" b="1" dirty="0">
                <a:latin typeface="Mistral" panose="03090702030407020403" pitchFamily="66" charset="0"/>
                <a:cs typeface="MV Boli" panose="02000500030200090000" pitchFamily="2" charset="0"/>
              </a:rPr>
              <a:t> de Oliveira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27DDD84-4612-9E3A-BA11-5169BA45F9D0}"/>
              </a:ext>
            </a:extLst>
          </p:cNvPr>
          <p:cNvSpPr txBox="1"/>
          <p:nvPr/>
        </p:nvSpPr>
        <p:spPr>
          <a:xfrm>
            <a:off x="4107872" y="339002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pt-BR" sz="4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BeabaProgramAcao</a:t>
            </a:r>
            <a:endParaRPr lang="pt-BR" sz="4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A0626E61-9BB4-F383-F6AD-3FDC1145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356" y="2959890"/>
            <a:ext cx="1875541" cy="1875541"/>
          </a:xfrm>
          <a:prstGeom prst="rect">
            <a:avLst/>
          </a:prstGeom>
        </p:spPr>
      </p:pic>
      <p:pic>
        <p:nvPicPr>
          <p:cNvPr id="19" name="Imagem 18" descr="Logotipo&#10;&#10;O conteúdo gerado por IA pode estar incorreto.">
            <a:extLst>
              <a:ext uri="{FF2B5EF4-FFF2-40B4-BE49-F238E27FC236}">
                <a16:creationId xmlns:a16="http://schemas.microsoft.com/office/drawing/2014/main" id="{A788B384-8724-BCF6-01E2-3D871AE3D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9723" y="3252664"/>
            <a:ext cx="1025489" cy="119804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084F714F-12A3-0331-C82F-F120E4D84193}"/>
              </a:ext>
            </a:extLst>
          </p:cNvPr>
          <p:cNvSpPr/>
          <p:nvPr/>
        </p:nvSpPr>
        <p:spPr>
          <a:xfrm>
            <a:off x="1050356" y="853018"/>
            <a:ext cx="9926802" cy="11695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pPr algn="ctr"/>
            <a:r>
              <a:rPr lang="pt-BR" sz="7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C000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urier New" panose="02070309020205020404" pitchFamily="49" charset="0"/>
                <a:ea typeface="Menlo" panose="020B0609030804020204" pitchFamily="49" charset="0"/>
                <a:cs typeface="Courier New" panose="02070309020205020404" pitchFamily="49" charset="0"/>
              </a:rPr>
              <a:t>BeabaProgramAcao</a:t>
            </a:r>
            <a:endParaRPr lang="pt-BR" sz="70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C000"/>
              </a:solidFill>
              <a:effectLst>
                <a:glow rad="101600">
                  <a:schemeClr val="accent2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ourier New" panose="02070309020205020404" pitchFamily="49" charset="0"/>
              <a:ea typeface="Menlo" panose="020B0609030804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7212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29889</TotalTime>
  <Words>917</Words>
  <Application>Microsoft Office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27" baseType="lpstr">
      <vt:lpstr>Abadi MT Condensed Light</vt:lpstr>
      <vt:lpstr>Aptos</vt:lpstr>
      <vt:lpstr>Aptos Display</vt:lpstr>
      <vt:lpstr>Arial</vt:lpstr>
      <vt:lpstr>Consolas</vt:lpstr>
      <vt:lpstr>Courier New</vt:lpstr>
      <vt:lpstr>Fairwater Script</vt:lpstr>
      <vt:lpstr>FUTURA MEDIUM</vt:lpstr>
      <vt:lpstr>FUTURA MEDIUM</vt:lpstr>
      <vt:lpstr>Ink Free</vt:lpstr>
      <vt:lpstr>Kohinoor Telugu</vt:lpstr>
      <vt:lpstr>Menlo</vt:lpstr>
      <vt:lpstr>Mistral</vt:lpstr>
      <vt:lpstr>MV Boli</vt:lpstr>
      <vt:lpstr>Rastanty Cortez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EDSON DE OLIVEIRA</dc:creator>
  <cp:lastModifiedBy>Etec Prof. Horácio Augusto da Silveira</cp:lastModifiedBy>
  <cp:revision>49</cp:revision>
  <dcterms:created xsi:type="dcterms:W3CDTF">2025-02-13T17:15:59Z</dcterms:created>
  <dcterms:modified xsi:type="dcterms:W3CDTF">2026-02-11T15:37:04Z</dcterms:modified>
</cp:coreProperties>
</file>