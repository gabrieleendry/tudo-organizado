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419" r:id="rId3"/>
    <p:sldId id="285" r:id="rId4"/>
    <p:sldId id="420" r:id="rId5"/>
    <p:sldId id="422" r:id="rId6"/>
    <p:sldId id="286" r:id="rId7"/>
    <p:sldId id="421" r:id="rId8"/>
    <p:sldId id="307" r:id="rId9"/>
    <p:sldId id="423" r:id="rId10"/>
    <p:sldId id="311" r:id="rId11"/>
    <p:sldId id="424" r:id="rId12"/>
    <p:sldId id="284" r:id="rId13"/>
    <p:sldId id="287" r:id="rId14"/>
    <p:sldId id="288" r:id="rId15"/>
    <p:sldId id="290" r:id="rId16"/>
    <p:sldId id="312" r:id="rId17"/>
    <p:sldId id="418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4675"/>
  </p:normalViewPr>
  <p:slideViewPr>
    <p:cSldViewPr snapToGrid="0">
      <p:cViewPr varScale="1">
        <p:scale>
          <a:sx n="114" d="100"/>
          <a:sy n="114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EA131-8BA9-4686-712A-83ECA87CC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4DE938-4E15-9932-FF08-C6DE1EDE1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9ED5C-6AF3-0EB8-CB07-7B83DFA0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42F21C-F406-B6E1-0803-11C4DE6D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CB13DE-1865-B29A-EDE9-C040E611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54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FB192-6E4A-9A43-1AFC-D8D9166C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08D97-3F40-1AF7-9FF1-9C8DE4963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7EEFD6-A465-C14B-8368-D60B39B8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8020C0-8343-2AD5-7C77-38C80311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591B0B-4F35-2FC8-67E1-4E72EFB8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65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A836E-A546-0337-0B5E-3311D35B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ECD828-AEEF-2A8A-569F-4C88A3F13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339C80-ADE0-8A1E-2919-F837D88E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752547-6B63-533F-D607-BE23EEE7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5A6F5-8CC4-0F18-6C57-DDF75AC2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10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78A70-36F9-425A-7C9F-463AE962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49C4E7-D2B5-4AAC-6C5E-F63525545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3AFE49-4CE6-BDF0-DDE2-3A3A220AD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2B44DD-D4C4-31DC-6740-1DE9D877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8A922C-5856-37C7-B629-04611C23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4C05C4-52A3-C74C-C669-0C9CDD245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07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C013-C0B2-857F-21AA-66DAA3DB3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1558FF-BB6E-04D2-3B33-0DBC3FBE8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31B5F4-7B0E-2438-2F65-685170E77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A0CA7C-872B-85E7-817C-4175863B5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80C084-7739-CD7D-E2D0-8B3DE01BC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B32E7C-7F80-72D4-1866-8CD2F668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E5D5D7-B332-6B67-8CA5-3A939337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2C8A43-6FBE-8041-FCB9-53ED9880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11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6E816-B271-9ADA-6915-D5DD3A2F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753E92-696E-2673-9528-26ED14AC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DD5E95-4EDF-0D40-C5CC-6B317FF8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50ABA2-800F-0FB9-D9DA-2BF3D69C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2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97E938-2FE3-01C6-DFBE-43ED8E38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B6B26C-7055-7D88-C597-7F9A7BAB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EF5B35-E654-15A9-94C8-D5DD5248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38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B908E-CD64-4CAF-3D96-52088EBE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32FFB8-ADCD-99C2-93CE-9BFECA74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222113-3A59-6BB4-00DF-92900401E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DDED1F-6BCA-F09C-0048-789C4A66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5E9A9D-D965-86D3-AE20-32A21B76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2DA89E-2AF5-71C3-AED0-E1E72C24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32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D098D-6DE6-55F4-6012-6E33D7FC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CEDC16-6573-8CFA-6ADB-37BB0B716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CFC135-05BD-7B98-5DC4-199F51779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4C0D0F-2354-8930-B584-3DBD69B4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CC64E2-F85B-319C-ED76-76DE1D8A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E55D27-F5CE-344B-932B-D089A4E3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1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D7DD0-9B25-F12D-4F3A-23B1DBC6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30B270-71BF-ABBD-C164-3789A799A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A9D47-7EA8-A0E5-74DE-83143736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C85F66-9B85-BBDA-8D51-6F97717B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5340EF-DCBE-791E-8A67-7A3EBA1A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29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C19FFC-A58E-3848-CE8B-C6935C6F8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BCB7A3-B167-10AE-75A1-F1EEF5E7D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3C8E62-0547-5C93-B541-10212F9B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7CFDBA-842B-9D48-B053-B7332E15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7D9B27-1B2F-5DE2-B138-E1C16A61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8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898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77000"/>
                    </a14:imgEffect>
                    <a14:imgEffect>
                      <a14:brightnessContrast contrast="14000"/>
                    </a14:imgEffect>
                  </a14:imgLayer>
                </a14:imgProps>
              </a:ext>
            </a:extLst>
          </a:blip>
          <a:srcRect/>
          <a:stretch>
            <a:fillRect t="-35000" b="-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FEFC8FE-2CE3-6023-8398-F22FA124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0E8897-8097-F495-FDCD-19551F87C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5F5C82-E4EC-307E-71FC-345053709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0C40E-E21C-5B4C-B08C-92CC3D7C8C6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5AE0CC-2228-EE3C-8C80-4159B97E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3CAE49-7BD8-5573-9F4D-B1043FEED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30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RVY5-vl7mJE?si=n_aeqOXrxc3YK8tu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H666roz-ug?si=DWxwm9WsS0kxYSaB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rA5Xwge3b3I?si=jl6dAGbAXDbZGJvJ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bd-xGOiUN8?si=VkIggoJ6_KTa8_Ft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9844-B685-E4FE-DE59-8C4A7B52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DB563763-CF2A-0246-EAF9-7EF6BCCF3F5D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A89CC0A-7AB3-F355-4A2E-A4B0B8C4F88E}"/>
              </a:ext>
            </a:extLst>
          </p:cNvPr>
          <p:cNvSpPr txBox="1"/>
          <p:nvPr/>
        </p:nvSpPr>
        <p:spPr>
          <a:xfrm>
            <a:off x="334538" y="960104"/>
            <a:ext cx="1130733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 err="1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Computational</a:t>
            </a:r>
            <a:r>
              <a:rPr lang="pt-BR" sz="50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 </a:t>
            </a:r>
            <a:r>
              <a:rPr lang="pt-BR" sz="5000" b="1" dirty="0" err="1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Thinking</a:t>
            </a:r>
            <a:r>
              <a:rPr lang="pt-BR" sz="50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 </a:t>
            </a:r>
            <a:r>
              <a:rPr lang="pt-BR" sz="5000" b="1" dirty="0" err="1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Using</a:t>
            </a:r>
            <a:r>
              <a:rPr lang="pt-BR" sz="50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 Python </a:t>
            </a:r>
          </a:p>
          <a:p>
            <a:pPr algn="ctr"/>
            <a:r>
              <a:rPr lang="pt-BR" sz="4000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Lógica de Programação</a:t>
            </a:r>
          </a:p>
          <a:p>
            <a:pPr algn="ctr"/>
            <a:r>
              <a:rPr lang="pt-BR" sz="2000" i="1" dirty="0">
                <a:solidFill>
                  <a:schemeClr val="accent6">
                    <a:lumMod val="50000"/>
                  </a:schemeClr>
                </a:solidFill>
                <a:latin typeface="+mj-lt"/>
                <a:cs typeface="Fairwater Script" panose="020F0502020204030204" pitchFamily="34" charset="0"/>
              </a:rPr>
              <a:t>Aplicada em:</a:t>
            </a:r>
          </a:p>
          <a:p>
            <a:pPr algn="ctr"/>
            <a:r>
              <a:rPr lang="pt-BR" sz="12000" b="1" dirty="0">
                <a:solidFill>
                  <a:srgbClr val="FF004E"/>
                </a:solidFill>
                <a:latin typeface="Ink Free" panose="03080402000500000000" pitchFamily="66" charset="0"/>
                <a:cs typeface="Fairwater Script" panose="020F0502020204030204" pitchFamily="34" charset="0"/>
              </a:rPr>
              <a:t>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8525AB-F4F4-1BF0-C920-4D80C94B9C5E}"/>
              </a:ext>
            </a:extLst>
          </p:cNvPr>
          <p:cNvSpPr txBox="1"/>
          <p:nvPr/>
        </p:nvSpPr>
        <p:spPr>
          <a:xfrm>
            <a:off x="4891021" y="5429103"/>
            <a:ext cx="240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Prof. Edson de Oliveira</a:t>
            </a:r>
          </a:p>
        </p:txBody>
      </p:sp>
    </p:spTree>
    <p:extLst>
      <p:ext uri="{BB962C8B-B14F-4D97-AF65-F5344CB8AC3E}">
        <p14:creationId xmlns:p14="http://schemas.microsoft.com/office/powerpoint/2010/main" val="165731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BFC8-6652-992E-8EE5-E53A6DD6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5AB097C0-BAA1-4D55-61C8-56BBF87EC506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D9F679-6BD7-F331-8E01-F65291E294AE}"/>
              </a:ext>
            </a:extLst>
          </p:cNvPr>
          <p:cNvSpPr txBox="1"/>
          <p:nvPr/>
        </p:nvSpPr>
        <p:spPr>
          <a:xfrm>
            <a:off x="4029713" y="2250568"/>
            <a:ext cx="3523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Definições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EEACD6-B81E-7493-7512-4F03FE3FC068}"/>
              </a:ext>
            </a:extLst>
          </p:cNvPr>
          <p:cNvSpPr txBox="1"/>
          <p:nvPr/>
        </p:nvSpPr>
        <p:spPr>
          <a:xfrm>
            <a:off x="3046142" y="3754538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https://youtu.be/RVY5-vl7mJE?si=n_aeqOXrxc3YK8tu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D09D80-AE4B-2ECE-C685-51736F22E423}"/>
              </a:ext>
            </a:extLst>
          </p:cNvPr>
          <p:cNvSpPr txBox="1"/>
          <p:nvPr/>
        </p:nvSpPr>
        <p:spPr>
          <a:xfrm>
            <a:off x="3046142" y="3429000"/>
            <a:ext cx="19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Vídeos Sugeridos:</a:t>
            </a:r>
          </a:p>
        </p:txBody>
      </p:sp>
    </p:spTree>
    <p:extLst>
      <p:ext uri="{BB962C8B-B14F-4D97-AF65-F5344CB8AC3E}">
        <p14:creationId xmlns:p14="http://schemas.microsoft.com/office/powerpoint/2010/main" val="215450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F894-A193-433F-BEEC-3F6C9126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DB22B2FE-798D-DDD3-B7E9-6045C8CEEE18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A50923F-D18C-D74E-292C-3E84CA17D984}"/>
              </a:ext>
            </a:extLst>
          </p:cNvPr>
          <p:cNvSpPr txBox="1"/>
          <p:nvPr/>
        </p:nvSpPr>
        <p:spPr>
          <a:xfrm>
            <a:off x="42864" y="0"/>
            <a:ext cx="1297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Definições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2E8F15-1C50-1ACE-2376-BB4DD1B43D8B}"/>
              </a:ext>
            </a:extLst>
          </p:cNvPr>
          <p:cNvSpPr txBox="1"/>
          <p:nvPr/>
        </p:nvSpPr>
        <p:spPr>
          <a:xfrm>
            <a:off x="1153945" y="557168"/>
            <a:ext cx="98300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/>
              <a:t>Compilador:</a:t>
            </a:r>
          </a:p>
          <a:p>
            <a:pPr marL="285750" indent="-285750">
              <a:buFontTx/>
              <a:buChar char="-"/>
            </a:pPr>
            <a:r>
              <a:rPr lang="pt-BR" sz="2000" dirty="0"/>
              <a:t>Analisa todas as linhas de código e executa se todas estiverem corretas 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26989AA9-C4CA-324E-097C-E6C3F5091D32}"/>
              </a:ext>
            </a:extLst>
          </p:cNvPr>
          <p:cNvCxnSpPr/>
          <p:nvPr/>
        </p:nvCxnSpPr>
        <p:spPr>
          <a:xfrm>
            <a:off x="2976191" y="1608174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C14CBA9-AFAD-4BE9-06D7-7EDF0C257135}"/>
              </a:ext>
            </a:extLst>
          </p:cNvPr>
          <p:cNvCxnSpPr/>
          <p:nvPr/>
        </p:nvCxnSpPr>
        <p:spPr>
          <a:xfrm>
            <a:off x="2976191" y="1732126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AE2F64A-A1D6-7D4A-AC1E-67EF7F8A70B2}"/>
              </a:ext>
            </a:extLst>
          </p:cNvPr>
          <p:cNvCxnSpPr/>
          <p:nvPr/>
        </p:nvCxnSpPr>
        <p:spPr>
          <a:xfrm>
            <a:off x="2996217" y="2294488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C074F3A-310D-D32B-CEB1-0C8C9340D832}"/>
              </a:ext>
            </a:extLst>
          </p:cNvPr>
          <p:cNvCxnSpPr/>
          <p:nvPr/>
        </p:nvCxnSpPr>
        <p:spPr>
          <a:xfrm>
            <a:off x="2976191" y="1883509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D65B3FF-DBF7-1FCF-F4BD-6A0C4A0E6F5C}"/>
              </a:ext>
            </a:extLst>
          </p:cNvPr>
          <p:cNvCxnSpPr/>
          <p:nvPr/>
        </p:nvCxnSpPr>
        <p:spPr>
          <a:xfrm>
            <a:off x="2985065" y="2022457"/>
            <a:ext cx="21515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8CF1BFF-C82C-8634-337D-03265D84BBF2}"/>
              </a:ext>
            </a:extLst>
          </p:cNvPr>
          <p:cNvCxnSpPr/>
          <p:nvPr/>
        </p:nvCxnSpPr>
        <p:spPr>
          <a:xfrm>
            <a:off x="2996215" y="2154197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55919E9-49F9-4738-E546-DEBE0891264D}"/>
              </a:ext>
            </a:extLst>
          </p:cNvPr>
          <p:cNvSpPr txBox="1"/>
          <p:nvPr/>
        </p:nvSpPr>
        <p:spPr>
          <a:xfrm>
            <a:off x="1153945" y="3673628"/>
            <a:ext cx="90975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highlight>
                  <a:srgbClr val="FFFF00"/>
                </a:highlight>
              </a:rPr>
              <a:t>Interpretador:</a:t>
            </a:r>
          </a:p>
          <a:p>
            <a:pPr marL="285750" indent="-285750">
              <a:buFontTx/>
              <a:buChar char="-"/>
            </a:pPr>
            <a:r>
              <a:rPr lang="pt-BR" sz="2000" dirty="0"/>
              <a:t>Analisa linha a linha do código e executa até encontrar um erro (se houver)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4E0328E2-1FEF-5AE6-4299-DC9EDC7148EE}"/>
              </a:ext>
            </a:extLst>
          </p:cNvPr>
          <p:cNvCxnSpPr>
            <a:cxnSpLocks/>
          </p:cNvCxnSpPr>
          <p:nvPr/>
        </p:nvCxnSpPr>
        <p:spPr>
          <a:xfrm>
            <a:off x="2819520" y="4571816"/>
            <a:ext cx="0" cy="442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F7C2F4C-3246-DB9D-C596-CDD4B96B442E}"/>
              </a:ext>
            </a:extLst>
          </p:cNvPr>
          <p:cNvSpPr txBox="1"/>
          <p:nvPr/>
        </p:nvSpPr>
        <p:spPr>
          <a:xfrm>
            <a:off x="837953" y="5609517"/>
            <a:ext cx="478804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2000"/>
            </a:lvl1pPr>
          </a:lstStyle>
          <a:p>
            <a:r>
              <a:rPr lang="pt-BR" dirty="0"/>
              <a:t>Interpreta a linha </a:t>
            </a:r>
            <a:r>
              <a:rPr lang="pt-BR" dirty="0">
                <a:sym typeface="Wingdings" pitchFamily="2" charset="2"/>
              </a:rPr>
              <a:t> Se</a:t>
            </a:r>
            <a:r>
              <a:rPr lang="pt-BR" dirty="0"/>
              <a:t> correto </a:t>
            </a:r>
            <a:r>
              <a:rPr lang="pt-BR" dirty="0">
                <a:sym typeface="Wingdings" pitchFamily="2" charset="2"/>
              </a:rPr>
              <a:t></a:t>
            </a:r>
            <a:r>
              <a:rPr lang="pt-BR" dirty="0"/>
              <a:t> Executa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ABF9E81-399C-A02D-76EA-94B5D01CC4B9}"/>
              </a:ext>
            </a:extLst>
          </p:cNvPr>
          <p:cNvSpPr txBox="1"/>
          <p:nvPr/>
        </p:nvSpPr>
        <p:spPr>
          <a:xfrm>
            <a:off x="863235" y="6190371"/>
            <a:ext cx="565507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2000" dirty="0"/>
              <a:t>Interpreta a linha </a:t>
            </a:r>
            <a:r>
              <a:rPr lang="pt-BR" sz="2000" dirty="0">
                <a:sym typeface="Wingdings" pitchFamily="2" charset="2"/>
              </a:rPr>
              <a:t> </a:t>
            </a:r>
            <a:r>
              <a:rPr lang="pt-BR" sz="2000" dirty="0">
                <a:solidFill>
                  <a:srgbClr val="FF0000"/>
                </a:solidFill>
                <a:sym typeface="Wingdings" pitchFamily="2" charset="2"/>
              </a:rPr>
              <a:t>Se houver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FF0000"/>
                </a:solidFill>
              </a:rPr>
              <a:t>erro</a:t>
            </a:r>
            <a:r>
              <a:rPr lang="pt-BR" sz="2000" dirty="0"/>
              <a:t> </a:t>
            </a:r>
            <a:r>
              <a:rPr lang="pt-BR" sz="2000" dirty="0">
                <a:sym typeface="Wingdings" pitchFamily="2" charset="2"/>
              </a:rPr>
              <a:t>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FF0000"/>
                </a:solidFill>
              </a:rPr>
              <a:t>interrompe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37CA064-1BBD-CDCF-5315-4EBC2ECD0D94}"/>
              </a:ext>
            </a:extLst>
          </p:cNvPr>
          <p:cNvSpPr txBox="1"/>
          <p:nvPr/>
        </p:nvSpPr>
        <p:spPr>
          <a:xfrm>
            <a:off x="1267240" y="2468525"/>
            <a:ext cx="50731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2000" dirty="0"/>
              <a:t>Se todas as linhas estão corretas </a:t>
            </a:r>
            <a:r>
              <a:rPr lang="pt-BR" sz="2000" dirty="0">
                <a:sym typeface="Wingdings" pitchFamily="2" charset="2"/>
              </a:rPr>
              <a:t> Executa</a:t>
            </a:r>
            <a:endParaRPr lang="pt-BR" sz="2000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92DCF74-BA7C-A471-936A-D338E60666FF}"/>
              </a:ext>
            </a:extLst>
          </p:cNvPr>
          <p:cNvSpPr txBox="1"/>
          <p:nvPr/>
        </p:nvSpPr>
        <p:spPr>
          <a:xfrm>
            <a:off x="1267240" y="2988402"/>
            <a:ext cx="5073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Se encontrar Erro(</a:t>
            </a:r>
            <a:r>
              <a:rPr lang="pt-BR" sz="2000" dirty="0" err="1">
                <a:solidFill>
                  <a:srgbClr val="FF0000"/>
                </a:solidFill>
              </a:rPr>
              <a:t>s</a:t>
            </a:r>
            <a:r>
              <a:rPr lang="pt-BR" sz="2000" dirty="0">
                <a:solidFill>
                  <a:srgbClr val="FF0000"/>
                </a:solidFill>
              </a:rPr>
              <a:t>) </a:t>
            </a:r>
            <a:r>
              <a:rPr lang="pt-BR" sz="2000" dirty="0">
                <a:solidFill>
                  <a:srgbClr val="FF0000"/>
                </a:solidFill>
                <a:sym typeface="Wingdings" pitchFamily="2" charset="2"/>
              </a:rPr>
              <a:t> Não executa NADA</a:t>
            </a:r>
            <a:r>
              <a:rPr lang="pt-BR" sz="2000" dirty="0"/>
              <a:t> 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C4904C-F579-30A3-F71C-2B856D916638}"/>
              </a:ext>
            </a:extLst>
          </p:cNvPr>
          <p:cNvSpPr txBox="1"/>
          <p:nvPr/>
        </p:nvSpPr>
        <p:spPr>
          <a:xfrm>
            <a:off x="2263697" y="1644889"/>
            <a:ext cx="468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3B40EA9-A233-DD30-3A4F-5D6385F37595}"/>
              </a:ext>
            </a:extLst>
          </p:cNvPr>
          <p:cNvCxnSpPr/>
          <p:nvPr/>
        </p:nvCxnSpPr>
        <p:spPr>
          <a:xfrm>
            <a:off x="2932079" y="4599785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A825B297-C1FE-FDBF-5BD4-AD02CEAC6691}"/>
              </a:ext>
            </a:extLst>
          </p:cNvPr>
          <p:cNvCxnSpPr/>
          <p:nvPr/>
        </p:nvCxnSpPr>
        <p:spPr>
          <a:xfrm>
            <a:off x="2932079" y="4723737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E5DA4CCC-E4BA-0701-D7AD-7A9045C7DE93}"/>
              </a:ext>
            </a:extLst>
          </p:cNvPr>
          <p:cNvCxnSpPr/>
          <p:nvPr/>
        </p:nvCxnSpPr>
        <p:spPr>
          <a:xfrm>
            <a:off x="2952105" y="5286099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A5578B45-6C14-F739-691E-01A9D8A5FF9F}"/>
              </a:ext>
            </a:extLst>
          </p:cNvPr>
          <p:cNvCxnSpPr/>
          <p:nvPr/>
        </p:nvCxnSpPr>
        <p:spPr>
          <a:xfrm>
            <a:off x="2932079" y="4875120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955AD997-B1F6-00BC-C7A3-1C3B57C45D0A}"/>
              </a:ext>
            </a:extLst>
          </p:cNvPr>
          <p:cNvCxnSpPr/>
          <p:nvPr/>
        </p:nvCxnSpPr>
        <p:spPr>
          <a:xfrm>
            <a:off x="2940953" y="5014068"/>
            <a:ext cx="21515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A953D423-C110-18C8-61C5-1B9BB686B1AC}"/>
              </a:ext>
            </a:extLst>
          </p:cNvPr>
          <p:cNvCxnSpPr/>
          <p:nvPr/>
        </p:nvCxnSpPr>
        <p:spPr>
          <a:xfrm>
            <a:off x="2952103" y="5145808"/>
            <a:ext cx="2151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8ADDEBA-861F-801C-FA8A-6803CA2571BB}"/>
              </a:ext>
            </a:extLst>
          </p:cNvPr>
          <p:cNvSpPr txBox="1"/>
          <p:nvPr/>
        </p:nvSpPr>
        <p:spPr>
          <a:xfrm>
            <a:off x="1467687" y="4680979"/>
            <a:ext cx="1230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Executa </a:t>
            </a:r>
          </a:p>
          <a:p>
            <a:r>
              <a:rPr lang="pt-BR" dirty="0">
                <a:solidFill>
                  <a:srgbClr val="FF0000"/>
                </a:solidFill>
              </a:rPr>
              <a:t>Até a falha</a:t>
            </a:r>
          </a:p>
        </p:txBody>
      </p:sp>
    </p:spTree>
    <p:extLst>
      <p:ext uri="{BB962C8B-B14F-4D97-AF65-F5344CB8AC3E}">
        <p14:creationId xmlns:p14="http://schemas.microsoft.com/office/powerpoint/2010/main" val="659708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3ACF-2B7B-49F8-9D08-94E2F3B7B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88DF5795-D82C-0F38-3383-3577AE9C74EB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498F5C1-F989-C69B-FFFC-ADEC1315C48C}"/>
              </a:ext>
            </a:extLst>
          </p:cNvPr>
          <p:cNvSpPr txBox="1"/>
          <p:nvPr/>
        </p:nvSpPr>
        <p:spPr>
          <a:xfrm>
            <a:off x="42864" y="0"/>
            <a:ext cx="1297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Definições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051826-7148-F03B-E2E2-84E9D0207D1A}"/>
              </a:ext>
            </a:extLst>
          </p:cNvPr>
          <p:cNvSpPr txBox="1"/>
          <p:nvPr/>
        </p:nvSpPr>
        <p:spPr>
          <a:xfrm>
            <a:off x="1738046" y="1414681"/>
            <a:ext cx="9219768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Para utilizar o Python em sua máquina você deve ter um:</a:t>
            </a:r>
          </a:p>
          <a:p>
            <a:endParaRPr lang="pt-BR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pPr marL="742950" lvl="1" indent="-285750">
              <a:buFont typeface="Wingdings" pitchFamily="2" charset="2"/>
              <a:buChar char="§"/>
            </a:pP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Interpretador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do Python e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Uma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IDE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(ou editor de programas)</a:t>
            </a:r>
          </a:p>
          <a:p>
            <a:pPr marL="285750" indent="-285750">
              <a:buFont typeface="Wingdings" pitchFamily="2" charset="2"/>
              <a:buChar char="§"/>
            </a:pPr>
            <a:endParaRPr lang="pt-BR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20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r>
              <a:rPr lang="pt-BR" sz="3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Neste tutorial mostraremos como instalar o </a:t>
            </a:r>
            <a:r>
              <a:rPr lang="pt-BR" sz="30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interpretador</a:t>
            </a:r>
            <a:r>
              <a:rPr lang="pt-BR" sz="3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</a:p>
          <a:p>
            <a:r>
              <a:rPr lang="pt-BR" sz="3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Python e a </a:t>
            </a:r>
            <a:r>
              <a:rPr lang="pt-BR" sz="30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IDE</a:t>
            </a:r>
            <a:r>
              <a:rPr lang="pt-BR" sz="30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:</a:t>
            </a:r>
            <a:endParaRPr lang="pt-BR" sz="30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Wingdings" pitchFamily="2" charset="2"/>
              <a:buChar char="§"/>
            </a:pPr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Visual Studio Code</a:t>
            </a:r>
          </a:p>
          <a:p>
            <a:endParaRPr lang="pt-BR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34ED6C-7E96-B7D8-7715-8417737557DB}"/>
              </a:ext>
            </a:extLst>
          </p:cNvPr>
          <p:cNvSpPr txBox="1"/>
          <p:nvPr/>
        </p:nvSpPr>
        <p:spPr>
          <a:xfrm>
            <a:off x="7749492" y="1897177"/>
            <a:ext cx="3060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Software que compreende</a:t>
            </a:r>
          </a:p>
          <a:p>
            <a:r>
              <a:rPr lang="pt-BR" dirty="0">
                <a:solidFill>
                  <a:srgbClr val="FF0000"/>
                </a:solidFill>
              </a:rPr>
              <a:t>a linguagem de programação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6167C1-ACF5-B9C0-473E-49D489DD8128}"/>
              </a:ext>
            </a:extLst>
          </p:cNvPr>
          <p:cNvSpPr txBox="1"/>
          <p:nvPr/>
        </p:nvSpPr>
        <p:spPr>
          <a:xfrm>
            <a:off x="7781079" y="2760543"/>
            <a:ext cx="3226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Software de Edição de códigos</a:t>
            </a:r>
          </a:p>
          <a:p>
            <a:r>
              <a:rPr lang="pt-BR" dirty="0">
                <a:solidFill>
                  <a:srgbClr val="FF0000"/>
                </a:solidFill>
              </a:rPr>
              <a:t>com recursos facilitadores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01E8D0E-2E37-0C96-B562-7A9DDBE84AF9}"/>
              </a:ext>
            </a:extLst>
          </p:cNvPr>
          <p:cNvSpPr/>
          <p:nvPr/>
        </p:nvSpPr>
        <p:spPr>
          <a:xfrm>
            <a:off x="2576246" y="2249501"/>
            <a:ext cx="3200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125EEE-8D7C-A4AF-BF7B-6E068A7BE7D3}"/>
              </a:ext>
            </a:extLst>
          </p:cNvPr>
          <p:cNvSpPr/>
          <p:nvPr/>
        </p:nvSpPr>
        <p:spPr>
          <a:xfrm>
            <a:off x="3109646" y="2543508"/>
            <a:ext cx="609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A9F4EC4-F58C-C7C2-6194-EE7859678E2F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5776646" y="2220343"/>
            <a:ext cx="1972846" cy="14345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D1FEB92-EE6A-FDEB-E617-73F23C93B42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414446" y="2792886"/>
            <a:ext cx="4366633" cy="2908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BE14240F-1C39-4345-7094-B4B9FE9D3563}"/>
              </a:ext>
            </a:extLst>
          </p:cNvPr>
          <p:cNvSpPr/>
          <p:nvPr/>
        </p:nvSpPr>
        <p:spPr>
          <a:xfrm>
            <a:off x="6080328" y="4825915"/>
            <a:ext cx="32142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* Integrated Development Environment </a:t>
            </a:r>
          </a:p>
          <a:p>
            <a:r>
              <a:rPr lang="pt-BR" sz="1200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(Ambiente de Desenvolvimento Integrado)</a:t>
            </a:r>
          </a:p>
        </p:txBody>
      </p:sp>
    </p:spTree>
    <p:extLst>
      <p:ext uri="{BB962C8B-B14F-4D97-AF65-F5344CB8AC3E}">
        <p14:creationId xmlns:p14="http://schemas.microsoft.com/office/powerpoint/2010/main" val="400144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6FA7-7BEF-86BA-3B79-ADC2FF17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2036D618-B59A-AD01-DAEC-95B58930A75F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64F5464-C3BF-81E4-A82F-17DC743C4B44}"/>
              </a:ext>
            </a:extLst>
          </p:cNvPr>
          <p:cNvSpPr txBox="1"/>
          <p:nvPr/>
        </p:nvSpPr>
        <p:spPr>
          <a:xfrm>
            <a:off x="3669007" y="2738875"/>
            <a:ext cx="4224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Instalações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D1C5EA-3DB1-2706-77F9-42D2604EC0CD}"/>
              </a:ext>
            </a:extLst>
          </p:cNvPr>
          <p:cNvSpPr txBox="1"/>
          <p:nvPr/>
        </p:nvSpPr>
        <p:spPr>
          <a:xfrm>
            <a:off x="3046142" y="3937862"/>
            <a:ext cx="1883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Vídeos sugeridos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51FF2C-93F7-E857-3AD9-C3A9968BD1FD}"/>
              </a:ext>
            </a:extLst>
          </p:cNvPr>
          <p:cNvSpPr txBox="1"/>
          <p:nvPr/>
        </p:nvSpPr>
        <p:spPr>
          <a:xfrm>
            <a:off x="3046142" y="4305852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https://youtu.be/WH666roz-ug?si=DWxwm9WsS0kxYSaB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735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8D3A-7DE0-5EA6-35DC-E088CC3D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D6403632-0F0B-7562-97FE-60D2D47CD975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D419A71-9DC5-B0C0-6456-3AE4B5F2A324}"/>
              </a:ext>
            </a:extLst>
          </p:cNvPr>
          <p:cNvSpPr txBox="1"/>
          <p:nvPr/>
        </p:nvSpPr>
        <p:spPr>
          <a:xfrm>
            <a:off x="0" y="0"/>
            <a:ext cx="410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Instalando o interpretador Python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AD2F8B8-CA35-6D27-44F8-5D67B74E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617" y="593694"/>
            <a:ext cx="4694069" cy="286389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7B93E3C-A8DE-B68F-2FE2-89E8A955E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17" y="3668675"/>
            <a:ext cx="4694069" cy="2912326"/>
          </a:xfrm>
          <a:prstGeom prst="rect">
            <a:avLst/>
          </a:prstGeom>
        </p:spPr>
      </p:pic>
      <p:sp>
        <p:nvSpPr>
          <p:cNvPr id="6" name="Balão de Linha 1 (Borda e Ênfase) 5">
            <a:extLst>
              <a:ext uri="{FF2B5EF4-FFF2-40B4-BE49-F238E27FC236}">
                <a16:creationId xmlns:a16="http://schemas.microsoft.com/office/drawing/2014/main" id="{FE7A16E8-3736-518D-E5C1-F6D9C5595023}"/>
              </a:ext>
            </a:extLst>
          </p:cNvPr>
          <p:cNvSpPr/>
          <p:nvPr/>
        </p:nvSpPr>
        <p:spPr>
          <a:xfrm>
            <a:off x="8541212" y="1295441"/>
            <a:ext cx="1909095" cy="1140310"/>
          </a:xfrm>
          <a:prstGeom prst="accentBorderCallout1">
            <a:avLst>
              <a:gd name="adj1" fmla="val 18750"/>
              <a:gd name="adj2" fmla="val -8333"/>
              <a:gd name="adj3" fmla="val 99292"/>
              <a:gd name="adj4" fmla="val -462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bg1"/>
                </a:solidFill>
              </a:rPr>
              <a:t>No google digite: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“</a:t>
            </a:r>
            <a:r>
              <a:rPr lang="pt-BR" dirty="0" err="1">
                <a:solidFill>
                  <a:schemeClr val="bg1"/>
                </a:solidFill>
              </a:rPr>
              <a:t>Dowload</a:t>
            </a:r>
            <a:r>
              <a:rPr lang="pt-BR" dirty="0">
                <a:solidFill>
                  <a:schemeClr val="bg1"/>
                </a:solidFill>
              </a:rPr>
              <a:t> Python”</a:t>
            </a:r>
          </a:p>
        </p:txBody>
      </p:sp>
      <p:sp>
        <p:nvSpPr>
          <p:cNvPr id="7" name="Balão de Linha 1 (Borda e Ênfase) 6">
            <a:extLst>
              <a:ext uri="{FF2B5EF4-FFF2-40B4-BE49-F238E27FC236}">
                <a16:creationId xmlns:a16="http://schemas.microsoft.com/office/drawing/2014/main" id="{31AD4930-F49A-35D4-D01E-B932B0D542FF}"/>
              </a:ext>
            </a:extLst>
          </p:cNvPr>
          <p:cNvSpPr/>
          <p:nvPr/>
        </p:nvSpPr>
        <p:spPr>
          <a:xfrm>
            <a:off x="8541212" y="3978149"/>
            <a:ext cx="1909095" cy="1140310"/>
          </a:xfrm>
          <a:prstGeom prst="accentBorderCallout1">
            <a:avLst>
              <a:gd name="adj1" fmla="val 18750"/>
              <a:gd name="adj2" fmla="val -8333"/>
              <a:gd name="adj3" fmla="val 99292"/>
              <a:gd name="adj4" fmla="val -462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bg1"/>
                </a:solidFill>
              </a:rPr>
              <a:t>Clique na versão sugerida pelo botão amarelo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39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680F-3FC4-BF39-FC01-2B27E9D8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CF5379FE-EA20-5FAC-19D6-8CBD9F6EA2DC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560A0F-961E-48A8-9EB9-0BC6F5CBF5AB}"/>
              </a:ext>
            </a:extLst>
          </p:cNvPr>
          <p:cNvSpPr txBox="1"/>
          <p:nvPr/>
        </p:nvSpPr>
        <p:spPr>
          <a:xfrm>
            <a:off x="811660" y="2738875"/>
            <a:ext cx="99389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Formas de executar o Python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A284DE8-29AA-3A0A-36D6-D25572B9CFE4}"/>
              </a:ext>
            </a:extLst>
          </p:cNvPr>
          <p:cNvSpPr txBox="1"/>
          <p:nvPr/>
        </p:nvSpPr>
        <p:spPr>
          <a:xfrm>
            <a:off x="2932771" y="3880624"/>
            <a:ext cx="7053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Vídeo sugerido: </a:t>
            </a:r>
            <a:r>
              <a:rPr lang="pt-BR" dirty="0">
                <a:hlinkClick r:id="rId2"/>
              </a:rPr>
              <a:t>https://youtu.be/rA5Xwge3b3I?si=jl6dAGbAXDbZGJvJ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392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8A250-E9AC-73E1-7B9C-5455C3C5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427E56DA-DACB-AE0A-2643-5A3F125E912B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E855FA5-4F10-BC91-B9CA-3B7116E12AC9}"/>
              </a:ext>
            </a:extLst>
          </p:cNvPr>
          <p:cNvSpPr txBox="1"/>
          <p:nvPr/>
        </p:nvSpPr>
        <p:spPr>
          <a:xfrm>
            <a:off x="0" y="0"/>
            <a:ext cx="3969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Utilização do Python via </a:t>
            </a:r>
            <a:r>
              <a:rPr lang="pt-BR" sz="2000" dirty="0" err="1"/>
              <a:t>command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B45BBA-3E5F-8703-4882-17F4DF608610}"/>
              </a:ext>
            </a:extLst>
          </p:cNvPr>
          <p:cNvSpPr txBox="1"/>
          <p:nvPr/>
        </p:nvSpPr>
        <p:spPr>
          <a:xfrm>
            <a:off x="3398122" y="554196"/>
            <a:ext cx="41168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chemeClr val="accent6">
                    <a:lumMod val="50000"/>
                  </a:schemeClr>
                </a:solidFill>
              </a:rPr>
              <a:t>Via Command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6392F7A-01A5-4834-9187-27995584D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74" y="2154891"/>
            <a:ext cx="7493000" cy="30861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C8DCDD0-9C33-AE0A-FB86-BA8B4492359E}"/>
              </a:ext>
            </a:extLst>
          </p:cNvPr>
          <p:cNvSpPr txBox="1"/>
          <p:nvPr/>
        </p:nvSpPr>
        <p:spPr>
          <a:xfrm>
            <a:off x="3896680" y="1416098"/>
            <a:ext cx="4398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No Prompt de Comando digite “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</a:rPr>
              <a:t>python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Digite a instrução desejada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34D82F-C7BF-5D6E-5FC7-E2780562BCD3}"/>
              </a:ext>
            </a:extLst>
          </p:cNvPr>
          <p:cNvSpPr txBox="1"/>
          <p:nvPr/>
        </p:nvSpPr>
        <p:spPr>
          <a:xfrm>
            <a:off x="3556683" y="5408579"/>
            <a:ext cx="50786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O comando será executado instantaneamente</a:t>
            </a:r>
          </a:p>
          <a:p>
            <a:endParaRPr lang="pt-BR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Digite “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</a:rPr>
              <a:t>quit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” para sair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E086CD-E621-32AE-EB96-B0D6907DF29E}"/>
              </a:ext>
            </a:extLst>
          </p:cNvPr>
          <p:cNvSpPr/>
          <p:nvPr/>
        </p:nvSpPr>
        <p:spPr>
          <a:xfrm>
            <a:off x="8195533" y="1404125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6CF30E-BBD8-1507-E53B-368B1BCA13F1}"/>
              </a:ext>
            </a:extLst>
          </p:cNvPr>
          <p:cNvSpPr/>
          <p:nvPr/>
        </p:nvSpPr>
        <p:spPr>
          <a:xfrm>
            <a:off x="7001434" y="1763362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282A5D-5577-3476-8EB7-ECC628BC404F}"/>
              </a:ext>
            </a:extLst>
          </p:cNvPr>
          <p:cNvSpPr/>
          <p:nvPr/>
        </p:nvSpPr>
        <p:spPr>
          <a:xfrm>
            <a:off x="8550535" y="5444650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73F606-EC5E-8AB3-6385-2B24D9901A79}"/>
              </a:ext>
            </a:extLst>
          </p:cNvPr>
          <p:cNvSpPr/>
          <p:nvPr/>
        </p:nvSpPr>
        <p:spPr>
          <a:xfrm>
            <a:off x="4851698" y="3530372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1E7577-9098-E685-6D5C-7A0AF23FB602}"/>
              </a:ext>
            </a:extLst>
          </p:cNvPr>
          <p:cNvSpPr/>
          <p:nvPr/>
        </p:nvSpPr>
        <p:spPr>
          <a:xfrm>
            <a:off x="6185646" y="4250172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F09511-54BE-C6DB-CF9B-2A402F0A8F45}"/>
              </a:ext>
            </a:extLst>
          </p:cNvPr>
          <p:cNvSpPr/>
          <p:nvPr/>
        </p:nvSpPr>
        <p:spPr>
          <a:xfrm>
            <a:off x="4674197" y="4529195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6618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17B3-D869-E3B4-386C-734B0550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F8EE6DC7-D270-D04E-6538-A36B12568B13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8700737-95A5-4B30-83D4-FB6CE59106DB}"/>
              </a:ext>
            </a:extLst>
          </p:cNvPr>
          <p:cNvSpPr txBox="1"/>
          <p:nvPr/>
        </p:nvSpPr>
        <p:spPr>
          <a:xfrm>
            <a:off x="0" y="0"/>
            <a:ext cx="52613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Utilização do Python via Sistema Operacional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9C6338-C533-2749-9394-E5AD7DCA57BA}"/>
              </a:ext>
            </a:extLst>
          </p:cNvPr>
          <p:cNvSpPr txBox="1"/>
          <p:nvPr/>
        </p:nvSpPr>
        <p:spPr>
          <a:xfrm>
            <a:off x="1186934" y="857819"/>
            <a:ext cx="37387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chemeClr val="accent6">
                    <a:lumMod val="50000"/>
                  </a:schemeClr>
                </a:solidFill>
              </a:rPr>
              <a:t>Passos via SO: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E21D5A-8D7C-C5E2-5A9D-0DD55B7C9AD6}"/>
              </a:ext>
            </a:extLst>
          </p:cNvPr>
          <p:cNvSpPr txBox="1"/>
          <p:nvPr/>
        </p:nvSpPr>
        <p:spPr>
          <a:xfrm>
            <a:off x="1186934" y="1906753"/>
            <a:ext cx="9089989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Crie uma pasta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Crie um arquivo TEXTO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Digite o código-fonte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Salve o arquivo com a extensão </a:t>
            </a:r>
            <a:r>
              <a:rPr lang="pt-BR" sz="30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r>
              <a:rPr lang="pt-BR" sz="3000" b="1" dirty="0" err="1">
                <a:solidFill>
                  <a:schemeClr val="accent6">
                    <a:lumMod val="50000"/>
                  </a:schemeClr>
                </a:solidFill>
              </a:rPr>
              <a:t>py</a:t>
            </a:r>
            <a:endParaRPr lang="pt-BR" sz="3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Via </a:t>
            </a:r>
            <a:r>
              <a:rPr lang="pt-BR" sz="3000" dirty="0" err="1">
                <a:solidFill>
                  <a:schemeClr val="accent6">
                    <a:lumMod val="50000"/>
                  </a:schemeClr>
                </a:solidFill>
              </a:rPr>
              <a:t>command</a:t>
            </a: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, localize o arquivo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Digite: “</a:t>
            </a:r>
            <a:r>
              <a:rPr lang="pt-BR" sz="3000" dirty="0" err="1">
                <a:solidFill>
                  <a:schemeClr val="accent6">
                    <a:lumMod val="50000"/>
                  </a:schemeClr>
                </a:solidFill>
              </a:rPr>
              <a:t>pyhton</a:t>
            </a: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 &lt;</a:t>
            </a:r>
            <a:r>
              <a:rPr lang="pt-BR" sz="3000" dirty="0" err="1">
                <a:solidFill>
                  <a:schemeClr val="accent6">
                    <a:lumMod val="50000"/>
                  </a:schemeClr>
                </a:solidFill>
              </a:rPr>
              <a:t>nome_do_arquivo</a:t>
            </a: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&gt;.</a:t>
            </a:r>
            <a:r>
              <a:rPr lang="pt-BR" sz="3000" dirty="0" err="1">
                <a:solidFill>
                  <a:schemeClr val="accent6">
                    <a:lumMod val="50000"/>
                  </a:schemeClr>
                </a:solidFill>
              </a:rPr>
              <a:t>py</a:t>
            </a:r>
            <a:endParaRPr lang="pt-BR" sz="30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chemeClr val="accent6">
                    <a:lumMod val="50000"/>
                  </a:schemeClr>
                </a:solidFill>
              </a:rPr>
              <a:t>Caso algo seja alterado no código, repita o processo</a:t>
            </a:r>
          </a:p>
        </p:txBody>
      </p:sp>
    </p:spTree>
    <p:extLst>
      <p:ext uri="{BB962C8B-B14F-4D97-AF65-F5344CB8AC3E}">
        <p14:creationId xmlns:p14="http://schemas.microsoft.com/office/powerpoint/2010/main" val="358128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B165-BA86-3674-73E4-CB7339A5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7BA8B761-56CA-422A-938A-66571A84788E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825E491-8108-B323-EAAA-41DFBD99C08E}"/>
              </a:ext>
            </a:extLst>
          </p:cNvPr>
          <p:cNvSpPr txBox="1"/>
          <p:nvPr/>
        </p:nvSpPr>
        <p:spPr>
          <a:xfrm>
            <a:off x="0" y="0"/>
            <a:ext cx="3302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Utilização do Python via 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64A8B46-99FA-D4BE-2284-BFD4D58CDDFA}"/>
              </a:ext>
            </a:extLst>
          </p:cNvPr>
          <p:cNvSpPr txBox="1"/>
          <p:nvPr/>
        </p:nvSpPr>
        <p:spPr>
          <a:xfrm>
            <a:off x="2785061" y="361534"/>
            <a:ext cx="66218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chemeClr val="accent6">
                    <a:lumMod val="50000"/>
                  </a:schemeClr>
                </a:solidFill>
              </a:rPr>
              <a:t>Via Sistema Operacional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7477B14-ECFF-8368-417B-574F14130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18" y="2087928"/>
            <a:ext cx="3085176" cy="177851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F9D172B-CBBE-29F6-AF59-87F2B6837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07" y="4617137"/>
            <a:ext cx="4106135" cy="160540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BE54BEB-4E71-4BF5-A8F5-F4EB38034549}"/>
              </a:ext>
            </a:extLst>
          </p:cNvPr>
          <p:cNvSpPr txBox="1"/>
          <p:nvPr/>
        </p:nvSpPr>
        <p:spPr>
          <a:xfrm>
            <a:off x="927418" y="1130975"/>
            <a:ext cx="3844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No 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‘prompt de comando’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Crie uma pasta ‘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projeto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Entre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 na pasta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EB2292-9FDD-DD17-838E-A00813F99AE6}"/>
              </a:ext>
            </a:extLst>
          </p:cNvPr>
          <p:cNvSpPr txBox="1"/>
          <p:nvPr/>
        </p:nvSpPr>
        <p:spPr>
          <a:xfrm>
            <a:off x="1054935" y="3931621"/>
            <a:ext cx="3844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No ‘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bloco de notas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’: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Digite o comando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DE29884-5C8A-063A-6869-D9A01EB9D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300" y="1574266"/>
            <a:ext cx="3909129" cy="238392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7E9C72-A480-DD41-3529-B2E0E2732F27}"/>
              </a:ext>
            </a:extLst>
          </p:cNvPr>
          <p:cNvSpPr txBox="1"/>
          <p:nvPr/>
        </p:nvSpPr>
        <p:spPr>
          <a:xfrm>
            <a:off x="6531848" y="1206411"/>
            <a:ext cx="406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Salve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 o arquivo como “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prog01.py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”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B39F769-B423-F53D-F97A-7933D30F2709}"/>
              </a:ext>
            </a:extLst>
          </p:cNvPr>
          <p:cNvCxnSpPr/>
          <p:nvPr/>
        </p:nvCxnSpPr>
        <p:spPr>
          <a:xfrm>
            <a:off x="5916706" y="1193253"/>
            <a:ext cx="0" cy="511074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C7D518-707C-9F98-8807-CEF488D2030B}"/>
              </a:ext>
            </a:extLst>
          </p:cNvPr>
          <p:cNvSpPr txBox="1"/>
          <p:nvPr/>
        </p:nvSpPr>
        <p:spPr>
          <a:xfrm>
            <a:off x="7593992" y="3976012"/>
            <a:ext cx="286243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Coloque “prog01.py” entre aspas para não salvar como .txt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76A22DB-8A9C-211D-C4E5-2CBBA027F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849" y="5233413"/>
            <a:ext cx="3924580" cy="103088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93C22D85-F9B4-D1D3-DB78-0215F4A03668}"/>
              </a:ext>
            </a:extLst>
          </p:cNvPr>
          <p:cNvSpPr txBox="1"/>
          <p:nvPr/>
        </p:nvSpPr>
        <p:spPr>
          <a:xfrm>
            <a:off x="6453676" y="4617137"/>
            <a:ext cx="4583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Entre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 na pasta onde o arquivo foi salvo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Digite ‘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</a:rPr>
              <a:t>python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 prog01.py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’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896A5F5-C55B-E62B-B47D-FE421319EDB4}"/>
              </a:ext>
            </a:extLst>
          </p:cNvPr>
          <p:cNvSpPr/>
          <p:nvPr/>
        </p:nvSpPr>
        <p:spPr>
          <a:xfrm>
            <a:off x="3118432" y="256096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B8ACBE-FF8D-4B1E-CE65-FEB19757C5AD}"/>
              </a:ext>
            </a:extLst>
          </p:cNvPr>
          <p:cNvSpPr/>
          <p:nvPr/>
        </p:nvSpPr>
        <p:spPr>
          <a:xfrm>
            <a:off x="3724594" y="1424580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558C38-47D4-B11F-68C9-A00B0BC22972}"/>
              </a:ext>
            </a:extLst>
          </p:cNvPr>
          <p:cNvSpPr/>
          <p:nvPr/>
        </p:nvSpPr>
        <p:spPr>
          <a:xfrm>
            <a:off x="2783982" y="1717840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43DA17E-3EB4-F32B-C0B3-E2F6CC19836B}"/>
              </a:ext>
            </a:extLst>
          </p:cNvPr>
          <p:cNvSpPr/>
          <p:nvPr/>
        </p:nvSpPr>
        <p:spPr>
          <a:xfrm>
            <a:off x="3118432" y="2925702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3100E9-1899-2CE2-CA11-46BC8F893B95}"/>
              </a:ext>
            </a:extLst>
          </p:cNvPr>
          <p:cNvSpPr/>
          <p:nvPr/>
        </p:nvSpPr>
        <p:spPr>
          <a:xfrm>
            <a:off x="4771964" y="56048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CB56EFF-7C25-8C72-6319-F3221FEEAE22}"/>
              </a:ext>
            </a:extLst>
          </p:cNvPr>
          <p:cNvSpPr/>
          <p:nvPr/>
        </p:nvSpPr>
        <p:spPr>
          <a:xfrm>
            <a:off x="3270572" y="4254786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89E2C0B-562E-D723-643F-1A0ED74D383B}"/>
              </a:ext>
            </a:extLst>
          </p:cNvPr>
          <p:cNvSpPr/>
          <p:nvPr/>
        </p:nvSpPr>
        <p:spPr>
          <a:xfrm>
            <a:off x="10449800" y="1206411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AF083A-AD02-2374-7231-2E9AF59E2D97}"/>
              </a:ext>
            </a:extLst>
          </p:cNvPr>
          <p:cNvSpPr/>
          <p:nvPr/>
        </p:nvSpPr>
        <p:spPr>
          <a:xfrm>
            <a:off x="9406938" y="3546049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4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078E6D-87FB-92E2-9205-F4906D213B0E}"/>
              </a:ext>
            </a:extLst>
          </p:cNvPr>
          <p:cNvSpPr/>
          <p:nvPr/>
        </p:nvSpPr>
        <p:spPr>
          <a:xfrm>
            <a:off x="9193086" y="607854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A63EFB-7270-3A38-237E-72FBC2FFF165}"/>
              </a:ext>
            </a:extLst>
          </p:cNvPr>
          <p:cNvSpPr/>
          <p:nvPr/>
        </p:nvSpPr>
        <p:spPr>
          <a:xfrm>
            <a:off x="9485812" y="4933000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239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5A72-28D7-F7FA-7BF2-032A769A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83ADAC04-468D-6198-DC41-24EA8C6DD0C0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D7614D5-9615-9782-3DA8-4B25656A08E3}"/>
              </a:ext>
            </a:extLst>
          </p:cNvPr>
          <p:cNvSpPr txBox="1"/>
          <p:nvPr/>
        </p:nvSpPr>
        <p:spPr>
          <a:xfrm>
            <a:off x="2957961" y="2225919"/>
            <a:ext cx="62760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Instalando o </a:t>
            </a:r>
          </a:p>
          <a:p>
            <a:pPr algn="ctr"/>
            <a:r>
              <a:rPr lang="pt-BR" sz="6000" dirty="0"/>
              <a:t>Visual Studio </a:t>
            </a:r>
            <a:r>
              <a:rPr lang="pt-BR" sz="6000" dirty="0" err="1"/>
              <a:t>Code</a:t>
            </a:r>
            <a:endParaRPr lang="pt-BR" sz="6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C4EA06-3F1D-01DE-5349-D95C3F05050D}"/>
              </a:ext>
            </a:extLst>
          </p:cNvPr>
          <p:cNvSpPr txBox="1"/>
          <p:nvPr/>
        </p:nvSpPr>
        <p:spPr>
          <a:xfrm>
            <a:off x="3368361" y="4270917"/>
            <a:ext cx="54552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Vídeo sugerido:</a:t>
            </a:r>
            <a:br>
              <a:rPr lang="pt-BR" dirty="0"/>
            </a:br>
            <a:r>
              <a:rPr lang="pt-BR" dirty="0">
                <a:hlinkClick r:id="rId2"/>
              </a:rPr>
              <a:t>https://youtu.be/wbd-xGOiUN8?si=VkIggoJ6_KTa8_Ft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513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E3D0-B5CF-9650-26D5-D02F7A85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BE88FD69-8234-3D6A-C899-AF3AED4DB2A7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F27ADB-75FE-889B-B887-F05E33FF9A06}"/>
              </a:ext>
            </a:extLst>
          </p:cNvPr>
          <p:cNvSpPr txBox="1"/>
          <p:nvPr/>
        </p:nvSpPr>
        <p:spPr>
          <a:xfrm>
            <a:off x="2786230" y="1622193"/>
            <a:ext cx="661953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accent6">
                    <a:lumMod val="50000"/>
                  </a:schemeClr>
                </a:solidFill>
              </a:rPr>
              <a:t>Via IDE</a:t>
            </a:r>
          </a:p>
          <a:p>
            <a:pPr algn="ctr"/>
            <a:endParaRPr lang="pt-BR" sz="1400" i="1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pPr algn="ctr"/>
            <a:r>
              <a:rPr lang="pt-BR" sz="1400" i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Integrated</a:t>
            </a:r>
            <a:r>
              <a:rPr lang="pt-BR" sz="1400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  <a:r>
              <a:rPr lang="pt-BR" sz="1400" i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Development</a:t>
            </a:r>
            <a:r>
              <a:rPr lang="pt-BR" sz="1400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  <a:r>
              <a:rPr lang="pt-BR" sz="1400" i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Environment</a:t>
            </a:r>
            <a:r>
              <a:rPr lang="pt-BR" sz="1400" i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(Ambiente de Desenvolvimento Integrado)</a:t>
            </a:r>
          </a:p>
          <a:p>
            <a:endParaRPr lang="pt-BR" sz="4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B30ECC-AD6A-F83F-8138-D25DB7ECA2D4}"/>
              </a:ext>
            </a:extLst>
          </p:cNvPr>
          <p:cNvSpPr txBox="1"/>
          <p:nvPr/>
        </p:nvSpPr>
        <p:spPr>
          <a:xfrm>
            <a:off x="689370" y="193584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Instalação do VSCODE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E20CB9-66FD-1128-EA4B-CE3A072A1D19}"/>
              </a:ext>
            </a:extLst>
          </p:cNvPr>
          <p:cNvSpPr txBox="1"/>
          <p:nvPr/>
        </p:nvSpPr>
        <p:spPr>
          <a:xfrm>
            <a:off x="2316524" y="3665668"/>
            <a:ext cx="783292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Existem diversas </a:t>
            </a:r>
            <a:r>
              <a:rPr lang="pt-BR" sz="2400" dirty="0" err="1">
                <a:solidFill>
                  <a:schemeClr val="accent6">
                    <a:lumMod val="50000"/>
                  </a:schemeClr>
                </a:solidFill>
              </a:rPr>
              <a:t>IDEs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, utilizaremos o Visual Studio Code.</a:t>
            </a:r>
          </a:p>
          <a:p>
            <a:endParaRPr lang="pt-BR" sz="24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pt-BR" sz="2800" b="1" dirty="0">
                <a:solidFill>
                  <a:schemeClr val="accent6">
                    <a:lumMod val="50000"/>
                  </a:schemeClr>
                </a:solidFill>
              </a:rPr>
              <a:t>Segue a instalação: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92139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8742-DC39-2A1F-6545-FEF49485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6CC4EA82-DA7D-8D51-16AB-9B57261AEFF6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2C3EBD3-1235-AFCE-C116-D3B854B32992}"/>
              </a:ext>
            </a:extLst>
          </p:cNvPr>
          <p:cNvSpPr txBox="1"/>
          <p:nvPr/>
        </p:nvSpPr>
        <p:spPr>
          <a:xfrm>
            <a:off x="0" y="20781"/>
            <a:ext cx="3727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Instalando o Visual Studio Code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EF46EE7-4CCE-7333-1492-39484B2A9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254" y="593694"/>
            <a:ext cx="5513710" cy="254203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2A89807-838E-9D6E-A306-058A2C85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54" y="3308532"/>
            <a:ext cx="5513710" cy="3355884"/>
          </a:xfrm>
          <a:prstGeom prst="rect">
            <a:avLst/>
          </a:prstGeom>
        </p:spPr>
      </p:pic>
      <p:sp>
        <p:nvSpPr>
          <p:cNvPr id="9" name="Balão de Linha 1 (Borda e Ênfase) 8">
            <a:extLst>
              <a:ext uri="{FF2B5EF4-FFF2-40B4-BE49-F238E27FC236}">
                <a16:creationId xmlns:a16="http://schemas.microsoft.com/office/drawing/2014/main" id="{5628F6D4-DAA4-0057-1C92-61F7C1E32737}"/>
              </a:ext>
            </a:extLst>
          </p:cNvPr>
          <p:cNvSpPr/>
          <p:nvPr/>
        </p:nvSpPr>
        <p:spPr>
          <a:xfrm>
            <a:off x="8547140" y="908853"/>
            <a:ext cx="1909095" cy="1140310"/>
          </a:xfrm>
          <a:prstGeom prst="accentBorderCallout1">
            <a:avLst>
              <a:gd name="adj1" fmla="val 18750"/>
              <a:gd name="adj2" fmla="val -8333"/>
              <a:gd name="adj3" fmla="val 99292"/>
              <a:gd name="adj4" fmla="val -462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bg1"/>
                </a:solidFill>
              </a:rPr>
              <a:t>No google digite: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“</a:t>
            </a:r>
            <a:r>
              <a:rPr lang="pt-BR" dirty="0" err="1">
                <a:solidFill>
                  <a:schemeClr val="bg1"/>
                </a:solidFill>
              </a:rPr>
              <a:t>Dowload</a:t>
            </a:r>
            <a:r>
              <a:rPr lang="pt-BR" dirty="0">
                <a:solidFill>
                  <a:schemeClr val="bg1"/>
                </a:solidFill>
              </a:rPr>
              <a:t> Visual </a:t>
            </a:r>
            <a:r>
              <a:rPr lang="pt-BR" dirty="0" err="1">
                <a:solidFill>
                  <a:schemeClr val="bg1"/>
                </a:solidFill>
              </a:rPr>
              <a:t>studio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code</a:t>
            </a:r>
            <a:r>
              <a:rPr lang="pt-BR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10" name="Balão de Linha 1 (Borda e Ênfase) 9">
            <a:extLst>
              <a:ext uri="{FF2B5EF4-FFF2-40B4-BE49-F238E27FC236}">
                <a16:creationId xmlns:a16="http://schemas.microsoft.com/office/drawing/2014/main" id="{1AC2B089-F069-8CC3-C16F-DC06DFEF79FF}"/>
              </a:ext>
            </a:extLst>
          </p:cNvPr>
          <p:cNvSpPr/>
          <p:nvPr/>
        </p:nvSpPr>
        <p:spPr>
          <a:xfrm>
            <a:off x="8547140" y="4141695"/>
            <a:ext cx="1909095" cy="1140310"/>
          </a:xfrm>
          <a:prstGeom prst="accentBorderCallout1">
            <a:avLst>
              <a:gd name="adj1" fmla="val 18750"/>
              <a:gd name="adj2" fmla="val -8333"/>
              <a:gd name="adj3" fmla="val 99292"/>
              <a:gd name="adj4" fmla="val -462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bg1"/>
                </a:solidFill>
              </a:rPr>
              <a:t>Escolha o SO onde o VS </a:t>
            </a:r>
            <a:r>
              <a:rPr lang="pt-BR" sz="1800" dirty="0" err="1">
                <a:solidFill>
                  <a:schemeClr val="bg1"/>
                </a:solidFill>
              </a:rPr>
              <a:t>code</a:t>
            </a:r>
            <a:r>
              <a:rPr lang="pt-BR" sz="1800" dirty="0">
                <a:solidFill>
                  <a:schemeClr val="bg1"/>
                </a:solidFill>
              </a:rPr>
              <a:t> será instalado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659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22A0D-6C48-4406-0F17-04E029617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7D5B26BA-5A01-1419-7AFA-33EB9C087332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D030039-807D-56CA-62C2-78AB27CA10B5}"/>
              </a:ext>
            </a:extLst>
          </p:cNvPr>
          <p:cNvSpPr txBox="1"/>
          <p:nvPr/>
        </p:nvSpPr>
        <p:spPr>
          <a:xfrm>
            <a:off x="0" y="0"/>
            <a:ext cx="3743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Instalando o Python no VS Code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0E27DE-E363-0229-A016-87C8D4621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243" y="2036456"/>
            <a:ext cx="6905513" cy="453552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C953FC8-038C-3D41-443C-F3FEA3D98906}"/>
              </a:ext>
            </a:extLst>
          </p:cNvPr>
          <p:cNvSpPr txBox="1"/>
          <p:nvPr/>
        </p:nvSpPr>
        <p:spPr>
          <a:xfrm>
            <a:off x="3030070" y="427421"/>
            <a:ext cx="61318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Execute este processo somente uma vez:</a:t>
            </a:r>
          </a:p>
          <a:p>
            <a:endParaRPr lang="pt-BR" sz="1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Nas ‘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</a:rPr>
              <a:t>Extensoes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Digite ‘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Python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Localize e 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instale-o</a:t>
            </a:r>
            <a:endParaRPr lang="pt-BR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E17799-2245-36CC-B06C-685965ADC9DC}"/>
              </a:ext>
            </a:extLst>
          </p:cNvPr>
          <p:cNvSpPr/>
          <p:nvPr/>
        </p:nvSpPr>
        <p:spPr>
          <a:xfrm>
            <a:off x="3030070" y="4611729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410B62-E450-C4FB-9435-1E88D6B3E613}"/>
              </a:ext>
            </a:extLst>
          </p:cNvPr>
          <p:cNvSpPr/>
          <p:nvPr/>
        </p:nvSpPr>
        <p:spPr>
          <a:xfrm>
            <a:off x="4643715" y="2802431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69D089-BFD2-F623-60F0-5BD029053D27}"/>
              </a:ext>
            </a:extLst>
          </p:cNvPr>
          <p:cNvSpPr/>
          <p:nvPr/>
        </p:nvSpPr>
        <p:spPr>
          <a:xfrm>
            <a:off x="4555861" y="3903544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1EA492-C7FC-2381-5B82-73127BE567FB}"/>
              </a:ext>
            </a:extLst>
          </p:cNvPr>
          <p:cNvSpPr/>
          <p:nvPr/>
        </p:nvSpPr>
        <p:spPr>
          <a:xfrm>
            <a:off x="5057878" y="912395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551894-E97C-4793-6885-1747B53A0A5B}"/>
              </a:ext>
            </a:extLst>
          </p:cNvPr>
          <p:cNvSpPr/>
          <p:nvPr/>
        </p:nvSpPr>
        <p:spPr>
          <a:xfrm>
            <a:off x="4873209" y="1270481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730F4A-77FB-E4E9-5106-A37A0CA408FA}"/>
              </a:ext>
            </a:extLst>
          </p:cNvPr>
          <p:cNvSpPr/>
          <p:nvPr/>
        </p:nvSpPr>
        <p:spPr>
          <a:xfrm>
            <a:off x="5364476" y="1559649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5662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D4D9-F165-8B35-141D-868373B1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5E51CDF2-6AD5-897C-C617-43B8F8A0457B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F4B348D-5783-0C51-0E32-1F71F65C3844}"/>
              </a:ext>
            </a:extLst>
          </p:cNvPr>
          <p:cNvSpPr txBox="1"/>
          <p:nvPr/>
        </p:nvSpPr>
        <p:spPr>
          <a:xfrm>
            <a:off x="-10320" y="16810"/>
            <a:ext cx="5136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Executando um programa Python no VS Code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FC1F3A0-333F-EE20-D45F-C878AC6F3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01" y="2014053"/>
            <a:ext cx="7145095" cy="389732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815C85B-D4E8-9279-0921-E510B4314126}"/>
              </a:ext>
            </a:extLst>
          </p:cNvPr>
          <p:cNvSpPr txBox="1"/>
          <p:nvPr/>
        </p:nvSpPr>
        <p:spPr>
          <a:xfrm>
            <a:off x="1375973" y="686459"/>
            <a:ext cx="4314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accent6">
                    <a:lumMod val="50000"/>
                  </a:schemeClr>
                </a:solidFill>
              </a:rPr>
              <a:t>Crie</a:t>
            </a:r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 uma pasta </a:t>
            </a:r>
            <a:r>
              <a:rPr lang="pt-BR" sz="1800" i="1" dirty="0">
                <a:solidFill>
                  <a:schemeClr val="accent6">
                    <a:lumMod val="50000"/>
                  </a:schemeClr>
                </a:solidFill>
              </a:rPr>
              <a:t>“</a:t>
            </a:r>
            <a:r>
              <a:rPr lang="pt-BR" sz="1800" b="1" i="1" dirty="0">
                <a:solidFill>
                  <a:schemeClr val="accent6">
                    <a:lumMod val="50000"/>
                  </a:schemeClr>
                </a:solidFill>
              </a:rPr>
              <a:t>projetos</a:t>
            </a:r>
            <a:r>
              <a:rPr lang="pt-BR" sz="1800" i="1" dirty="0">
                <a:solidFill>
                  <a:schemeClr val="accent6">
                    <a:lumMod val="50000"/>
                  </a:schemeClr>
                </a:solidFill>
              </a:rPr>
              <a:t>” </a:t>
            </a:r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no </a:t>
            </a:r>
            <a:r>
              <a:rPr lang="pt-BR" sz="1800" b="1" dirty="0">
                <a:solidFill>
                  <a:schemeClr val="accent6">
                    <a:lumMod val="50000"/>
                  </a:schemeClr>
                </a:solidFill>
              </a:rPr>
              <a:t>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6">
                    <a:lumMod val="50000"/>
                  </a:schemeClr>
                </a:solidFill>
              </a:rPr>
              <a:t>Abra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 o 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Selecione a pasta </a:t>
            </a:r>
            <a:r>
              <a:rPr lang="pt-BR" sz="1800" i="1" dirty="0">
                <a:solidFill>
                  <a:schemeClr val="accent6">
                    <a:lumMod val="50000"/>
                  </a:schemeClr>
                </a:solidFill>
              </a:rPr>
              <a:t>“</a:t>
            </a:r>
            <a:r>
              <a:rPr lang="pt-BR" sz="1800" b="1" i="1" dirty="0">
                <a:solidFill>
                  <a:schemeClr val="accent6">
                    <a:lumMod val="50000"/>
                  </a:schemeClr>
                </a:solidFill>
              </a:rPr>
              <a:t>projetos</a:t>
            </a:r>
            <a:r>
              <a:rPr lang="pt-BR" sz="1800" i="1" dirty="0">
                <a:solidFill>
                  <a:schemeClr val="accent6">
                    <a:lumMod val="50000"/>
                  </a:schemeClr>
                </a:solidFill>
              </a:rPr>
              <a:t>” </a:t>
            </a:r>
            <a:endParaRPr lang="pt-BR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4A0340-8B08-CAFE-1137-868C3341B0D8}"/>
              </a:ext>
            </a:extLst>
          </p:cNvPr>
          <p:cNvSpPr/>
          <p:nvPr/>
        </p:nvSpPr>
        <p:spPr>
          <a:xfrm>
            <a:off x="1234542" y="3724397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B30A48-413B-56BC-024D-F84BF9295AA5}"/>
              </a:ext>
            </a:extLst>
          </p:cNvPr>
          <p:cNvSpPr/>
          <p:nvPr/>
        </p:nvSpPr>
        <p:spPr>
          <a:xfrm>
            <a:off x="3103023" y="3999544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86BB3C-76A1-A775-B5CF-4EE14DC9A262}"/>
              </a:ext>
            </a:extLst>
          </p:cNvPr>
          <p:cNvSpPr/>
          <p:nvPr/>
        </p:nvSpPr>
        <p:spPr>
          <a:xfrm>
            <a:off x="6330317" y="3069518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AB6CFC-0FEA-7A4F-628D-4402F0ABAFAB}"/>
              </a:ext>
            </a:extLst>
          </p:cNvPr>
          <p:cNvSpPr/>
          <p:nvPr/>
        </p:nvSpPr>
        <p:spPr>
          <a:xfrm>
            <a:off x="3306522" y="5442071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E5C604D-8618-8019-59E0-3373DDA7519A}"/>
              </a:ext>
            </a:extLst>
          </p:cNvPr>
          <p:cNvSpPr txBox="1"/>
          <p:nvPr/>
        </p:nvSpPr>
        <p:spPr>
          <a:xfrm>
            <a:off x="8187356" y="2146188"/>
            <a:ext cx="28601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Crie um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arquivo .</a:t>
            </a:r>
            <a:r>
              <a:rPr lang="pt-BR" sz="2000" b="1" dirty="0" err="1">
                <a:solidFill>
                  <a:schemeClr val="accent6">
                    <a:lumMod val="50000"/>
                  </a:schemeClr>
                </a:solidFill>
              </a:rPr>
              <a:t>py</a:t>
            </a:r>
            <a:endParaRPr lang="pt-BR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Digite o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código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Mande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executar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</a:rPr>
              <a:t>Visualize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 a execução</a:t>
            </a:r>
            <a:endParaRPr lang="pt-BR" sz="2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709775-849E-40C4-3EB6-C39150B6B299}"/>
              </a:ext>
            </a:extLst>
          </p:cNvPr>
          <p:cNvSpPr/>
          <p:nvPr/>
        </p:nvSpPr>
        <p:spPr>
          <a:xfrm>
            <a:off x="10815725" y="2146188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3E1E69-60E5-2EB1-251A-31D69F6D2E84}"/>
              </a:ext>
            </a:extLst>
          </p:cNvPr>
          <p:cNvSpPr/>
          <p:nvPr/>
        </p:nvSpPr>
        <p:spPr>
          <a:xfrm>
            <a:off x="10271329" y="2481326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E178C6-40A5-D206-4514-4EC118A8B4C5}"/>
              </a:ext>
            </a:extLst>
          </p:cNvPr>
          <p:cNvSpPr/>
          <p:nvPr/>
        </p:nvSpPr>
        <p:spPr>
          <a:xfrm>
            <a:off x="10481894" y="2816464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624C6E-10D6-1C4B-43A1-81345397B1E8}"/>
              </a:ext>
            </a:extLst>
          </p:cNvPr>
          <p:cNvSpPr/>
          <p:nvPr/>
        </p:nvSpPr>
        <p:spPr>
          <a:xfrm>
            <a:off x="10893941" y="3114737"/>
            <a:ext cx="355002" cy="3351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85067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775C27D-E364-6D4D-16CC-AD5EB5607629}"/>
              </a:ext>
            </a:extLst>
          </p:cNvPr>
          <p:cNvSpPr txBox="1"/>
          <p:nvPr/>
        </p:nvSpPr>
        <p:spPr>
          <a:xfrm>
            <a:off x="3529964" y="1351508"/>
            <a:ext cx="5132072" cy="415498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Projetos&gt;</a:t>
            </a:r>
          </a:p>
          <a:p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Aula01&gt;</a:t>
            </a:r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prog01.py</a:t>
            </a:r>
          </a:p>
          <a:p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pt-BR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formatos_print.py</a:t>
            </a:r>
            <a:endParaRPr lang="pt-BR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pt-BR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entrada_dados.py</a:t>
            </a:r>
            <a:endParaRPr lang="pt-BR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Aula02&gt;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pt-BR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decisão.py</a:t>
            </a:r>
            <a:endParaRPr lang="pt-BR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pt-BR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exercícios.py</a:t>
            </a:r>
            <a:endParaRPr lang="pt-BR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pt-BR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Aula03&gt;</a:t>
            </a:r>
            <a:r>
              <a:rPr lang="pt-BR" sz="2400" b="1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pt-BR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correcaoCP1.py</a:t>
            </a:r>
          </a:p>
          <a:p>
            <a:r>
              <a:rPr lang="pt-BR" sz="2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pt-BR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escolha.py</a:t>
            </a:r>
            <a:endParaRPr lang="pt-BR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C3A2AE6-3E0A-B2FB-FF84-44FD5B2F4884}"/>
              </a:ext>
            </a:extLst>
          </p:cNvPr>
          <p:cNvSpPr txBox="1"/>
          <p:nvPr/>
        </p:nvSpPr>
        <p:spPr>
          <a:xfrm>
            <a:off x="-10320" y="16810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Sugestão de criação de pastas e arquivos</a:t>
            </a:r>
          </a:p>
        </p:txBody>
      </p:sp>
    </p:spTree>
    <p:extLst>
      <p:ext uri="{BB962C8B-B14F-4D97-AF65-F5344CB8AC3E}">
        <p14:creationId xmlns:p14="http://schemas.microsoft.com/office/powerpoint/2010/main" val="3236324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CFF1B-3492-BC9F-5028-3AB0FFF4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A2A1AB0-33DE-63A3-CD8B-E8C63F57D32A}"/>
              </a:ext>
            </a:extLst>
          </p:cNvPr>
          <p:cNvSpPr txBox="1"/>
          <p:nvPr/>
        </p:nvSpPr>
        <p:spPr>
          <a:xfrm>
            <a:off x="4048840" y="4835431"/>
            <a:ext cx="6955751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@BeabaDaProgramacaoEds</a:t>
            </a:r>
          </a:p>
        </p:txBody>
      </p:sp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E72C0940-4890-D345-3CB2-68B86E3E1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89" y="4535225"/>
            <a:ext cx="1369851" cy="136985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95F325B-CDCF-0B89-D2CF-445AC195160B}"/>
              </a:ext>
            </a:extLst>
          </p:cNvPr>
          <p:cNvSpPr txBox="1"/>
          <p:nvPr/>
        </p:nvSpPr>
        <p:spPr>
          <a:xfrm>
            <a:off x="1988127" y="1942668"/>
            <a:ext cx="8215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>
                <a:latin typeface="Mistral" panose="03090702030407020403" pitchFamily="66" charset="0"/>
                <a:cs typeface="MV Boli" panose="02000500030200090000" pitchFamily="2" charset="0"/>
              </a:rPr>
              <a:t>Prof</a:t>
            </a:r>
            <a:r>
              <a:rPr lang="pt-BR" sz="6000" b="1" dirty="0">
                <a:latin typeface="Mistral" panose="03090702030407020403" pitchFamily="66" charset="0"/>
                <a:cs typeface="MV Boli" panose="02000500030200090000" pitchFamily="2" charset="0"/>
              </a:rPr>
              <a:t>. </a:t>
            </a:r>
            <a:r>
              <a:rPr lang="pt-BR" sz="7200" b="1" dirty="0">
                <a:latin typeface="Mistral" panose="03090702030407020403" pitchFamily="66" charset="0"/>
                <a:cs typeface="Kohinoor Telugu" panose="02000000000000000000" pitchFamily="2" charset="77"/>
              </a:rPr>
              <a:t>Edson</a:t>
            </a:r>
            <a:r>
              <a:rPr lang="pt-BR" sz="7200" b="1" dirty="0">
                <a:latin typeface="Mistral" panose="03090702030407020403" pitchFamily="66" charset="0"/>
                <a:cs typeface="MV Boli" panose="02000500030200090000" pitchFamily="2" charset="0"/>
              </a:rPr>
              <a:t> de Oliveira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27DDD84-4612-9E3A-BA11-5169BA45F9D0}"/>
              </a:ext>
            </a:extLst>
          </p:cNvPr>
          <p:cNvSpPr txBox="1"/>
          <p:nvPr/>
        </p:nvSpPr>
        <p:spPr>
          <a:xfrm>
            <a:off x="4107872" y="339002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pt-BR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BeabaProgramAcao</a:t>
            </a:r>
            <a:endParaRPr lang="pt-BR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A0626E61-9BB4-F383-F6AD-3FDC1145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56" y="2959890"/>
            <a:ext cx="1875541" cy="1875541"/>
          </a:xfrm>
          <a:prstGeom prst="rect">
            <a:avLst/>
          </a:prstGeom>
        </p:spPr>
      </p:pic>
      <p:pic>
        <p:nvPicPr>
          <p:cNvPr id="19" name="Imagem 18" descr="Logotipo&#10;&#10;O conteúdo gerado por IA pode estar incorreto.">
            <a:extLst>
              <a:ext uri="{FF2B5EF4-FFF2-40B4-BE49-F238E27FC236}">
                <a16:creationId xmlns:a16="http://schemas.microsoft.com/office/drawing/2014/main" id="{A788B384-8724-BCF6-01E2-3D871AE3D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723" y="3252664"/>
            <a:ext cx="1025489" cy="119804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84F714F-12A3-0331-C82F-F120E4D84193}"/>
              </a:ext>
            </a:extLst>
          </p:cNvPr>
          <p:cNvSpPr/>
          <p:nvPr/>
        </p:nvSpPr>
        <p:spPr>
          <a:xfrm>
            <a:off x="1050356" y="853018"/>
            <a:ext cx="9926802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r>
              <a:rPr lang="pt-BR" sz="7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C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BeabaProgramAcao</a:t>
            </a:r>
            <a:endParaRPr lang="pt-BR" sz="7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C000"/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7212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30521</TotalTime>
  <Words>803</Words>
  <Application>Microsoft Macintosh PowerPoint</Application>
  <PresentationFormat>Widescreen</PresentationFormat>
  <Paragraphs>191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8" baseType="lpstr">
      <vt:lpstr>Abadi MT Condensed Light</vt:lpstr>
      <vt:lpstr>Aptos</vt:lpstr>
      <vt:lpstr>Aptos Display</vt:lpstr>
      <vt:lpstr>Arial</vt:lpstr>
      <vt:lpstr>Consolas</vt:lpstr>
      <vt:lpstr>Courier New</vt:lpstr>
      <vt:lpstr>Ink Free</vt:lpstr>
      <vt:lpstr>Menlo</vt:lpstr>
      <vt:lpstr>Mistral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DE OLIVEIRA</dc:creator>
  <cp:lastModifiedBy>EDSON DE OLIVEIRA</cp:lastModifiedBy>
  <cp:revision>44</cp:revision>
  <dcterms:created xsi:type="dcterms:W3CDTF">2025-02-13T17:15:59Z</dcterms:created>
  <dcterms:modified xsi:type="dcterms:W3CDTF">2025-09-02T02:39:59Z</dcterms:modified>
</cp:coreProperties>
</file>